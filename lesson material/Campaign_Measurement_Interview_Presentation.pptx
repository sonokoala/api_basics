
<file path=[Content_Types].xml><?xml version="1.0" encoding="utf-8"?>
<Types xmlns="http://schemas.openxmlformats.org/package/2006/content-types">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charts/chart1.xml" ContentType="application/vnd.openxmlformats-officedocument.drawingml.chart+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9"/>
  </p:notesMasterIdLst>
  <p:sldIdLst>
    <p:sldId id="256" r:id="rId2"/>
    <p:sldId id="257" r:id="rId3"/>
    <p:sldId id="258" r:id="rId4"/>
    <p:sldId id="259" r:id="rId5"/>
    <p:sldId id="260" r:id="rId6"/>
    <p:sldId id="261" r:id="rId7"/>
    <p:sldId id="262" r:id="rId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65" d="100"/>
          <a:sy n="65" d="100"/>
        </p:scale>
        <p:origin x="1710" y="6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viewProps" Target="viewProps.xml"/><Relationship Id="rId5" Type="http://schemas.openxmlformats.org/officeDocument/2006/relationships/slide" Target="slides/slide4.xml"/><Relationship Id="rId10"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notesMaster" Target="notesMasters/notes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GB"/>
  <c:roundedCorners val="1"/>
  <c:style val="2"/>
  <c:chart>
    <c:autoTitleDeleted val="1"/>
    <c:plotArea>
      <c:layout/>
      <c:barChart>
        <c:barDir val="col"/>
        <c:grouping val="clustered"/>
        <c:varyColors val="0"/>
        <c:ser>
          <c:idx val="0"/>
          <c:order val="0"/>
          <c:tx>
            <c:v>Conversion rate</c:v>
          </c:tx>
          <c:spPr>
            <a:solidFill>
              <a:srgbClr val="236192"/>
            </a:solidFill>
          </c:spPr>
          <c:invertIfNegative val="1"/>
          <c:dLbls>
            <c:spPr>
              <a:noFill/>
              <a:ln>
                <a:noFill/>
              </a:ln>
              <a:effectLst/>
            </c:spPr>
            <c:txPr>
              <a:bodyPr anchorCtr="1"/>
              <a:lstStyle/>
              <a:p>
                <a:pPr>
                  <a:defRPr>
                    <a:latin typeface="Bitstream Charter"/>
                    <a:ea typeface="Bitstream Charter"/>
                    <a:cs typeface="Bitstream Charter"/>
                  </a:defRPr>
                </a:pPr>
                <a:endParaRPr lang="ja-JP"/>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Data'!$A$2:$A$3</c:f>
              <c:strCache>
                <c:ptCount val="2"/>
                <c:pt idx="0">
                  <c:v>Regular advertising</c:v>
                </c:pt>
                <c:pt idx="1">
                  <c:v>PSA messaging</c:v>
                </c:pt>
              </c:strCache>
            </c:strRef>
          </c:cat>
          <c:val>
            <c:numRef>
              <c:f>'Chart Data'!$B$2:$B$3</c:f>
              <c:numCache>
                <c:formatCode>General</c:formatCode>
                <c:ptCount val="2"/>
                <c:pt idx="0">
                  <c:v>2.5499999999999998</c:v>
                </c:pt>
                <c:pt idx="1">
                  <c:v>1.79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 xmlns:c16="http://schemas.microsoft.com/office/drawing/2014/chart" uri="{C3380CC4-5D6E-409C-BE32-E72D297353CC}">
              <c16:uniqueId val="{00000000-102F-44BF-8ECC-70D7FBA3A8A7}"/>
            </c:ext>
          </c:extLst>
        </c:ser>
        <c:dLbls>
          <c:dLblPos val="outEnd"/>
          <c:showLegendKey val="0"/>
          <c:showVal val="1"/>
          <c:showCatName val="0"/>
          <c:showSerName val="0"/>
          <c:showPercent val="0"/>
          <c:showBubbleSize val="0"/>
        </c:dLbls>
        <c:gapWidth val="150"/>
        <c:axId val="48650112"/>
        <c:axId val="48672768"/>
      </c:barChart>
      <c:catAx>
        <c:axId val="48650112"/>
        <c:scaling>
          <c:orientation val="minMax"/>
        </c:scaling>
        <c:delete val="0"/>
        <c:axPos val="b"/>
        <c:numFmt formatCode="General" sourceLinked="1"/>
        <c:majorTickMark val="none"/>
        <c:minorTickMark val="none"/>
        <c:tickLblPos val="nextTo"/>
        <c:spPr>
          <a:ln w="9525">
            <a:solidFill>
              <a:srgbClr val="D4D4D4"/>
            </a:solidFill>
            <a:prstDash val="solid"/>
          </a:ln>
        </c:spPr>
        <c:txPr>
          <a:bodyPr anchorCtr="1"/>
          <a:lstStyle/>
          <a:p>
            <a:pPr>
              <a:defRPr>
                <a:solidFill>
                  <a:srgbClr val="666666"/>
                </a:solidFill>
                <a:latin typeface="Bitstream Charter"/>
                <a:ea typeface="Bitstream Charter"/>
                <a:cs typeface="Bitstream Charter"/>
              </a:defRPr>
            </a:pPr>
            <a:endParaRPr lang="ja-JP"/>
          </a:p>
        </c:txPr>
        <c:crossAx val="48672768"/>
        <c:crosses val="autoZero"/>
        <c:auto val="1"/>
        <c:lblAlgn val="ctr"/>
        <c:lblOffset val="100"/>
        <c:noMultiLvlLbl val="1"/>
      </c:catAx>
      <c:valAx>
        <c:axId val="48672768"/>
        <c:scaling>
          <c:orientation val="minMax"/>
        </c:scaling>
        <c:delete val="1"/>
        <c:axPos val="l"/>
        <c:numFmt formatCode="General" sourceLinked="1"/>
        <c:majorTickMark val="none"/>
        <c:minorTickMark val="none"/>
        <c:tickLblPos val="nextTo"/>
        <c:crossAx val="48650112"/>
        <c:crosses val="autoZero"/>
        <c:crossBetween val="between"/>
      </c:valAx>
    </c:plotArea>
    <c:plotVisOnly val="1"/>
    <c:dispBlanksAs val="zero"/>
    <c:showDLblsOverMax val="1"/>
  </c:chart>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This is an independent learning project using public data. It demonstrates a campaign-measurement workflow, not a Cint client result.</a:t>
            </a:r>
          </a:p>
          <a:p>
            <a:r>
              <a:t>JP: これは公開データを用いた学習プロジェクトです。Cintの顧客データや実際の成果ではなく、測定の考え方を示すためのものです。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The question was whether regular advertising produced a measurable conversion improvement. I chose a public A/B-test dataset because it lets me show the measurement workflow end to end.</a:t>
            </a:r>
          </a:p>
          <a:p>
            <a:r>
              <a:t>JP: 目的は、通常広告がPSAメッセージよりもコンバージョンを高めたかを確認することでした。公開データで、測定の流れ全体を練習しました。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The key result is simple: the ad group converted at 2.55 percent, compared with 1.79 percent for the PSA group. That is a 0.77 percentage point increase, or about 43 percent relative uplift.</a:t>
            </a:r>
          </a:p>
          <a:p>
            <a:r>
              <a:t>JP: 最も重要な結果は、通常広告グループのコンバージョン率が2.55%、PSAグループが1.79%だったことです。0.77ポイント、約43%の改善で、統計的にも有意でした。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I started with data quality because clean inputs matter before interpreting any campaign result. I then used the z-test for the core A/B comparison and added pattern analysis and predictive modelling for practical insight.</a:t>
            </a:r>
          </a:p>
          <a:p>
            <a:r>
              <a:t>JP: まずデータ品質を確認しました。その後A/Bテストで広告効果を検証し、曜日・時間帯・広告接触回数の傾向と予測モデルも確認しました。</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The pattern analysis provides hypotheses, not final decisions. Monday and selected hours may be promising scheduling windows. Higher exposure correlated with conversion, but engaged users may naturally receive more ads.</a:t>
            </a:r>
          </a:p>
          <a:p>
            <a:r>
              <a:t>JP: 曜日や時間帯の結果は、次のテストの仮説として使います。広告回数が多い人ほどコンバージョンは高かったですが、すでに関心が高い人の可能性もあります。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The Random Forest model achieved an ROC-AUC of 0.855, so it separated higher and lower conversion potential reasonably well. Because conversions were rare, I would use it to rank users, not make final automated decisions.</a:t>
            </a:r>
          </a:p>
          <a:p>
            <a:r>
              <a:t>JP: Random ForestモデルのROC-AUCは0.855でした。コンバージョンは少ないため、最終判断を自動化するより、優先順位付けに使うのが適切です。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EN: My main takeaway is that measurement is not only about reporting a statistically significant uplift. It is also about communicating limits clearly and turning results into the next best test for the client.</a:t>
            </a:r>
          </a:p>
          <a:p>
            <a:r>
              <a:t>JP: 私の主なポイントは、測定は統計的に有意な結果を報告するだけではないということです。限界も明確に説明し、顧客にとって次のテストにつながる提案をすることが大切です。</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EEF3F5"/>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srcRect l="23814" r="23814"/>
          <a:stretch>
            <a:fillRect/>
          </a:stretch>
        </p:blipFill>
        <p:spPr>
          <a:xfrm>
            <a:off x="5810250" y="0"/>
            <a:ext cx="6381750" cy="6858000"/>
          </a:xfrm>
          <a:prstGeom prst="rect">
            <a:avLst/>
          </a:prstGeom>
        </p:spPr>
      </p:pic>
      <p:sp>
        <p:nvSpPr>
          <p:cNvPr id="2" name="Rectangle 1">
            <a:extLst>
              <a:ext uri="{FF2B5EF4-FFF2-40B4-BE49-F238E27FC236}">
                <a16:creationId xmlns:a16="http://schemas.microsoft.com/office/drawing/2014/main" id="{C55A580D-931F-4610-BEF8-C63D6288F5F4}"/>
              </a:ext>
            </a:extLst>
          </p:cNvPr>
          <p:cNvSpPr>
            <a:spLocks noGrp="1"/>
          </p:cNvSpPr>
          <p:nvPr/>
        </p:nvSpPr>
        <p:spPr>
          <a:xfrm>
            <a:off x="0" y="0"/>
            <a:ext cx="6858000" cy="6858000"/>
          </a:xfrm>
          <a:prstGeom prst="rect">
            <a:avLst/>
          </a:prstGeom>
          <a:solidFill>
            <a:srgbClr val="EEF3F5"/>
          </a:solidFill>
          <a:ln w="0">
            <a:solidFill>
              <a:srgbClr val="EEF3F5"/>
            </a:solidFill>
          </a:ln>
        </p:spPr>
        <p:txBody>
          <a:bodyPr/>
          <a:lstStyle/>
          <a:p>
            <a:endParaRPr lang="ja-JP" altLang="en-US"/>
          </a:p>
        </p:txBody>
      </p:sp>
      <p:sp>
        <p:nvSpPr>
          <p:cNvPr id="3" name="Rectangle 2">
            <a:extLst>
              <a:ext uri="{FF2B5EF4-FFF2-40B4-BE49-F238E27FC236}">
                <a16:creationId xmlns:a16="http://schemas.microsoft.com/office/drawing/2014/main" id="{C111E5F1-CDC0-4B6C-AB9C-38889A878453}"/>
              </a:ext>
            </a:extLst>
          </p:cNvPr>
          <p:cNvSpPr>
            <a:spLocks noGrp="1"/>
          </p:cNvSpPr>
          <p:nvPr/>
        </p:nvSpPr>
        <p:spPr>
          <a:xfrm>
            <a:off x="704850" y="1428750"/>
            <a:ext cx="5238750" cy="1381125"/>
          </a:xfrm>
          <a:prstGeom prst="rect">
            <a:avLst/>
          </a:prstGeom>
          <a:noFill/>
          <a:ln w="0">
            <a:noFill/>
          </a:ln>
        </p:spPr>
        <p:txBody>
          <a:bodyPr>
            <a:normAutofit/>
          </a:bodyPr>
          <a:lstStyle/>
          <a:p>
            <a:pPr>
              <a:defRPr sz="3150" b="1">
                <a:solidFill>
                  <a:srgbClr val="123047"/>
                </a:solidFill>
                <a:latin typeface="Bitstream Charter"/>
                <a:ea typeface="Bitstream Charter"/>
                <a:cs typeface="Bitstream Charter"/>
              </a:defRPr>
            </a:pPr>
            <a:r>
              <a:rPr sz="3150" b="1">
                <a:solidFill>
                  <a:srgbClr val="123047"/>
                </a:solidFill>
                <a:latin typeface="Bitstream Charter"/>
                <a:ea typeface="Bitstream Charter"/>
                <a:cs typeface="Bitstream Charter"/>
              </a:rPr>
              <a:t>Campaign Measurement</a:t>
            </a:r>
          </a:p>
          <a:p>
            <a:pPr>
              <a:defRPr sz="3150" b="1">
                <a:solidFill>
                  <a:srgbClr val="123047"/>
                </a:solidFill>
                <a:latin typeface="Bitstream Charter"/>
                <a:ea typeface="Bitstream Charter"/>
                <a:cs typeface="Bitstream Charter"/>
              </a:defRPr>
            </a:pPr>
            <a:r>
              <a:rPr sz="3150" b="1">
                <a:solidFill>
                  <a:srgbClr val="123047"/>
                </a:solidFill>
                <a:latin typeface="Bitstream Charter"/>
                <a:ea typeface="Bitstream Charter"/>
                <a:cs typeface="Bitstream Charter"/>
              </a:rPr>
              <a:t>Mini Case Study</a:t>
            </a:r>
          </a:p>
        </p:txBody>
      </p:sp>
      <p:sp>
        <p:nvSpPr>
          <p:cNvPr id="4" name="Rectangle 3">
            <a:extLst>
              <a:ext uri="{FF2B5EF4-FFF2-40B4-BE49-F238E27FC236}">
                <a16:creationId xmlns:a16="http://schemas.microsoft.com/office/drawing/2014/main" id="{D8EF3A1E-7978-4721-81B5-FB790E0B84F8}"/>
              </a:ext>
            </a:extLst>
          </p:cNvPr>
          <p:cNvSpPr>
            <a:spLocks noGrp="1"/>
          </p:cNvSpPr>
          <p:nvPr/>
        </p:nvSpPr>
        <p:spPr>
          <a:xfrm>
            <a:off x="723900" y="3028950"/>
            <a:ext cx="4476750" cy="571500"/>
          </a:xfrm>
          <a:prstGeom prst="rect">
            <a:avLst/>
          </a:prstGeom>
          <a:noFill/>
          <a:ln w="0">
            <a:noFill/>
          </a:ln>
        </p:spPr>
        <p:txBody>
          <a:bodyPr>
            <a:normAutofit/>
          </a:bodyPr>
          <a:lstStyle/>
          <a:p>
            <a:pPr>
              <a:defRPr sz="1500" b="0">
                <a:solidFill>
                  <a:srgbClr val="17212B"/>
                </a:solidFill>
                <a:latin typeface="Bitstream Charter"/>
                <a:ea typeface="Bitstream Charter"/>
                <a:cs typeface="Bitstream Charter"/>
              </a:defRPr>
            </a:pPr>
            <a:r>
              <a:rPr sz="1500" b="0">
                <a:solidFill>
                  <a:srgbClr val="17212B"/>
                </a:solidFill>
                <a:latin typeface="Bitstream Charter"/>
                <a:ea typeface="Bitstream Charter"/>
                <a:cs typeface="Bitstream Charter"/>
              </a:rPr>
              <a:t>A/B test and predictive modelling for a digital advertising campaign</a:t>
            </a:r>
          </a:p>
        </p:txBody>
      </p:sp>
      <p:sp>
        <p:nvSpPr>
          <p:cNvPr id="5" name="Rectangle 4">
            <a:extLst>
              <a:ext uri="{FF2B5EF4-FFF2-40B4-BE49-F238E27FC236}">
                <a16:creationId xmlns:a16="http://schemas.microsoft.com/office/drawing/2014/main" id="{C64FC257-EEB4-4FAB-A6EB-B7C6E145BFA8}"/>
              </a:ext>
            </a:extLst>
          </p:cNvPr>
          <p:cNvSpPr>
            <a:spLocks noGrp="1"/>
          </p:cNvSpPr>
          <p:nvPr/>
        </p:nvSpPr>
        <p:spPr>
          <a:xfrm>
            <a:off x="723900" y="3819525"/>
            <a:ext cx="4000500" cy="266700"/>
          </a:xfrm>
          <a:prstGeom prst="rect">
            <a:avLst/>
          </a:prstGeom>
          <a:noFill/>
          <a:ln w="0">
            <a:noFill/>
          </a:ln>
        </p:spPr>
        <p:txBody>
          <a:bodyPr>
            <a:normAutofit/>
          </a:bodyPr>
          <a:lstStyle/>
          <a:p>
            <a:pP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Interview learning project using public Kaggle data</a:t>
            </a:r>
          </a:p>
        </p:txBody>
      </p:sp>
      <p:sp>
        <p:nvSpPr>
          <p:cNvPr id="6" name="Rectangle 5">
            <a:extLst>
              <a:ext uri="{FF2B5EF4-FFF2-40B4-BE49-F238E27FC236}">
                <a16:creationId xmlns:a16="http://schemas.microsoft.com/office/drawing/2014/main" id="{9661D259-746D-471B-8705-A48087F1E89E}"/>
              </a:ext>
            </a:extLst>
          </p:cNvPr>
          <p:cNvSpPr>
            <a:spLocks noGrp="1"/>
          </p:cNvSpPr>
          <p:nvPr/>
        </p:nvSpPr>
        <p:spPr>
          <a:xfrm>
            <a:off x="723900" y="5553075"/>
            <a:ext cx="2857500" cy="247650"/>
          </a:xfrm>
          <a:prstGeom prst="rect">
            <a:avLst/>
          </a:prstGeom>
          <a:noFill/>
          <a:ln w="0">
            <a:noFill/>
          </a:ln>
        </p:spPr>
        <p:txBody>
          <a:bodyPr>
            <a:normAutofit fontScale="85417"/>
          </a:bodyPr>
          <a:lstStyle/>
          <a:p>
            <a:pPr>
              <a:defRPr sz="1200" b="1">
                <a:solidFill>
                  <a:srgbClr val="123047"/>
                </a:solidFill>
                <a:latin typeface="Bitstream Charter"/>
                <a:ea typeface="Bitstream Charter"/>
                <a:cs typeface="Bitstream Charter"/>
              </a:defRPr>
            </a:pPr>
            <a:r>
              <a:rPr sz="1200" b="1">
                <a:solidFill>
                  <a:srgbClr val="123047"/>
                </a:solidFill>
                <a:latin typeface="Bitstream Charter"/>
                <a:ea typeface="Bitstream Charter"/>
                <a:cs typeface="Bitstream Charter"/>
              </a:rPr>
              <a:t>Madoka Thomson</a:t>
            </a:r>
          </a:p>
        </p:txBody>
      </p:sp>
      <p:sp>
        <p:nvSpPr>
          <p:cNvPr id="7" name="Rectangle 6">
            <a:extLst>
              <a:ext uri="{FF2B5EF4-FFF2-40B4-BE49-F238E27FC236}">
                <a16:creationId xmlns:a16="http://schemas.microsoft.com/office/drawing/2014/main" id="{CC8D1972-6692-41A9-8730-E6C04061AFA0}"/>
              </a:ext>
            </a:extLst>
          </p:cNvPr>
          <p:cNvSpPr>
            <a:spLocks noGrp="1"/>
          </p:cNvSpPr>
          <p:nvPr/>
        </p:nvSpPr>
        <p:spPr>
          <a:xfrm>
            <a:off x="723900" y="5857875"/>
            <a:ext cx="3619500" cy="209550"/>
          </a:xfrm>
          <a:prstGeom prst="rect">
            <a:avLst/>
          </a:prstGeom>
          <a:noFill/>
          <a:ln w="0">
            <a:noFill/>
          </a:ln>
        </p:spPr>
        <p:txBody>
          <a:bodyPr>
            <a:normAutofit fontScale="86111"/>
          </a:bodyPr>
          <a:lstStyle/>
          <a:p>
            <a:pPr>
              <a:defRPr sz="900" b="0">
                <a:solidFill>
                  <a:srgbClr val="5A6975"/>
                </a:solidFill>
                <a:latin typeface="Bitstream Charter"/>
                <a:ea typeface="Bitstream Charter"/>
                <a:cs typeface="Bitstream Charter"/>
              </a:defRPr>
            </a:pPr>
            <a:r>
              <a:rPr sz="900" b="0">
                <a:solidFill>
                  <a:srgbClr val="5A6975"/>
                </a:solidFill>
                <a:latin typeface="Bitstream Charter"/>
                <a:ea typeface="Bitstream Charter"/>
                <a:cs typeface="Bitstream Charter"/>
              </a:rPr>
              <a:t>Analyst, Measurement Success interview preparation</a:t>
            </a:r>
          </a:p>
        </p:txBody>
      </p:sp>
    </p:spTree>
    <p:extLst>
      <p:ext uri="{BB962C8B-B14F-4D97-AF65-F5344CB8AC3E}">
        <p14:creationId xmlns:p14="http://schemas.microsoft.com/office/powerpoint/2010/main" val="16516343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4" name="Rectangle 13">
            <a:extLst>
              <a:ext uri="{FF2B5EF4-FFF2-40B4-BE49-F238E27FC236}">
                <a16:creationId xmlns:a16="http://schemas.microsoft.com/office/drawing/2014/main" id="{65E58B57-483E-4DD8-9AAB-5E18361AA710}"/>
              </a:ext>
            </a:extLst>
          </p:cNvPr>
          <p:cNvSpPr>
            <a:spLocks noGrp="1"/>
          </p:cNvSpPr>
          <p:nvPr/>
        </p:nvSpPr>
        <p:spPr>
          <a:xfrm>
            <a:off x="666750" y="438150"/>
            <a:ext cx="8477250" cy="523875"/>
          </a:xfrm>
          <a:prstGeom prst="rect">
            <a:avLst/>
          </a:prstGeom>
          <a:noFill/>
          <a:ln w="0">
            <a:noFill/>
          </a:ln>
        </p:spPr>
        <p:txBody>
          <a:bodyPr>
            <a:normAutofit/>
          </a:bodyPr>
          <a:lstStyle/>
          <a:p>
            <a:pPr>
              <a:defRPr sz="2250" b="1">
                <a:solidFill>
                  <a:srgbClr val="123047"/>
                </a:solidFill>
                <a:latin typeface="Bitstream Charter"/>
                <a:ea typeface="Bitstream Charter"/>
                <a:cs typeface="Bitstream Charter"/>
              </a:defRPr>
            </a:pPr>
            <a:r>
              <a:rPr sz="2250" b="1">
                <a:solidFill>
                  <a:srgbClr val="123047"/>
                </a:solidFill>
                <a:latin typeface="Bitstream Charter"/>
                <a:ea typeface="Bitstream Charter"/>
                <a:cs typeface="Bitstream Charter"/>
              </a:rPr>
              <a:t>Campaign question</a:t>
            </a:r>
          </a:p>
        </p:txBody>
      </p:sp>
      <p:sp>
        <p:nvSpPr>
          <p:cNvPr id="2" name="Rectangle 1">
            <a:extLst>
              <a:ext uri="{FF2B5EF4-FFF2-40B4-BE49-F238E27FC236}">
                <a16:creationId xmlns:a16="http://schemas.microsoft.com/office/drawing/2014/main" id="{2A945E22-4574-4A70-80B9-C48DEFE4F2A6}"/>
              </a:ext>
            </a:extLst>
          </p:cNvPr>
          <p:cNvSpPr>
            <a:spLocks noGrp="1"/>
          </p:cNvSpPr>
          <p:nvPr/>
        </p:nvSpPr>
        <p:spPr>
          <a:xfrm>
            <a:off x="685800" y="1009650"/>
            <a:ext cx="8763000" cy="285750"/>
          </a:xfrm>
          <a:prstGeom prst="rect">
            <a:avLst/>
          </a:prstGeom>
          <a:noFill/>
          <a:ln w="0">
            <a:noFill/>
          </a:ln>
        </p:spPr>
        <p:txBody>
          <a:bodyPr>
            <a:normAutofit/>
          </a:bodyPr>
          <a:lstStyle/>
          <a:p>
            <a:pPr>
              <a:defRPr sz="1125" b="0">
                <a:solidFill>
                  <a:srgbClr val="5A6975"/>
                </a:solidFill>
                <a:latin typeface="Bitstream Charter"/>
                <a:ea typeface="Bitstream Charter"/>
                <a:cs typeface="Bitstream Charter"/>
              </a:defRPr>
            </a:pPr>
            <a:r>
              <a:rPr sz="1125" b="0">
                <a:solidFill>
                  <a:srgbClr val="5A6975"/>
                </a:solidFill>
                <a:latin typeface="Bitstream Charter"/>
                <a:ea typeface="Bitstream Charter"/>
                <a:cs typeface="Bitstream Charter"/>
              </a:rPr>
              <a:t>Did regular advertising improve conversion compared with PSA messaging?</a:t>
            </a:r>
          </a:p>
        </p:txBody>
      </p:sp>
      <p:sp>
        <p:nvSpPr>
          <p:cNvPr id="3" name="Rectangle 2">
            <a:extLst>
              <a:ext uri="{FF2B5EF4-FFF2-40B4-BE49-F238E27FC236}">
                <a16:creationId xmlns:a16="http://schemas.microsoft.com/office/drawing/2014/main" id="{6C5D80F0-887A-479C-9C72-57DA4C41F940}"/>
              </a:ext>
            </a:extLst>
          </p:cNvPr>
          <p:cNvSpPr>
            <a:spLocks noGrp="1"/>
          </p:cNvSpPr>
          <p:nvPr/>
        </p:nvSpPr>
        <p:spPr>
          <a:xfrm>
            <a:off x="685800" y="1381125"/>
            <a:ext cx="10820400" cy="19050"/>
          </a:xfrm>
          <a:prstGeom prst="rect">
            <a:avLst/>
          </a:prstGeom>
          <a:solidFill>
            <a:srgbClr val="236192"/>
          </a:solidFill>
          <a:ln w="0">
            <a:solidFill>
              <a:srgbClr val="236192"/>
            </a:solidFill>
          </a:ln>
        </p:spPr>
        <p:txBody>
          <a:bodyPr/>
          <a:lstStyle/>
          <a:p>
            <a:endParaRPr lang="ja-JP" altLang="en-US"/>
          </a:p>
        </p:txBody>
      </p:sp>
      <p:sp>
        <p:nvSpPr>
          <p:cNvPr id="4" name="Rectangle 3">
            <a:extLst>
              <a:ext uri="{FF2B5EF4-FFF2-40B4-BE49-F238E27FC236}">
                <a16:creationId xmlns:a16="http://schemas.microsoft.com/office/drawing/2014/main" id="{B9BC092C-483C-4E17-8D9A-91F112AE0846}"/>
              </a:ext>
            </a:extLst>
          </p:cNvPr>
          <p:cNvSpPr>
            <a:spLocks noGrp="1"/>
          </p:cNvSpPr>
          <p:nvPr/>
        </p:nvSpPr>
        <p:spPr>
          <a:xfrm>
            <a:off x="685800" y="1809750"/>
            <a:ext cx="3238500" cy="323850"/>
          </a:xfrm>
          <a:prstGeom prst="rect">
            <a:avLst/>
          </a:prstGeom>
          <a:noFill/>
          <a:ln w="0">
            <a:noFill/>
          </a:ln>
        </p:spPr>
        <p:txBody>
          <a:bodyPr>
            <a:normAutofit fontScale="92424"/>
          </a:bodyPr>
          <a:lstStyle/>
          <a:p>
            <a:pPr>
              <a:defRPr sz="1650" b="1">
                <a:solidFill>
                  <a:srgbClr val="123047"/>
                </a:solidFill>
                <a:latin typeface="Bitstream Charter"/>
                <a:ea typeface="Bitstream Charter"/>
                <a:cs typeface="Bitstream Charter"/>
              </a:defRPr>
            </a:pPr>
            <a:r>
              <a:rPr sz="1650" b="1">
                <a:solidFill>
                  <a:srgbClr val="123047"/>
                </a:solidFill>
                <a:latin typeface="Bitstream Charter"/>
                <a:ea typeface="Bitstream Charter"/>
                <a:cs typeface="Bitstream Charter"/>
              </a:rPr>
              <a:t>The dataset</a:t>
            </a:r>
          </a:p>
        </p:txBody>
      </p:sp>
      <p:sp>
        <p:nvSpPr>
          <p:cNvPr id="5" name="Rectangle 4">
            <a:extLst>
              <a:ext uri="{FF2B5EF4-FFF2-40B4-BE49-F238E27FC236}">
                <a16:creationId xmlns:a16="http://schemas.microsoft.com/office/drawing/2014/main" id="{198DCA08-910F-4120-81BC-4EE797B952F9}"/>
              </a:ext>
            </a:extLst>
          </p:cNvPr>
          <p:cNvSpPr>
            <a:spLocks noGrp="1"/>
          </p:cNvSpPr>
          <p:nvPr/>
        </p:nvSpPr>
        <p:spPr>
          <a:xfrm>
            <a:off x="685800" y="2266950"/>
            <a:ext cx="3905250" cy="1619250"/>
          </a:xfrm>
          <a:prstGeom prst="rect">
            <a:avLst/>
          </a:prstGeom>
          <a:noFill/>
          <a:ln w="0">
            <a:noFill/>
          </a:ln>
        </p:spPr>
        <p:txBody>
          <a:bodyPr>
            <a:normAutofit/>
          </a:bodyPr>
          <a:lstStyle/>
          <a:p>
            <a:pPr>
              <a:defRPr sz="1650" b="0">
                <a:solidFill>
                  <a:srgbClr val="17212B"/>
                </a:solidFill>
                <a:latin typeface="Bitstream Charter"/>
                <a:ea typeface="Bitstream Charter"/>
                <a:cs typeface="Bitstream Charter"/>
              </a:defRPr>
            </a:pPr>
            <a:r>
              <a:rPr sz="1650" b="0">
                <a:solidFill>
                  <a:srgbClr val="17212B"/>
                </a:solidFill>
                <a:latin typeface="Bitstream Charter"/>
                <a:ea typeface="Bitstream Charter"/>
                <a:cs typeface="Bitstream Charter"/>
              </a:rPr>
              <a:t>Public Kaggle A/B-test data</a:t>
            </a:r>
          </a:p>
          <a:p>
            <a:pPr>
              <a:defRPr sz="1650" b="0">
                <a:solidFill>
                  <a:srgbClr val="17212B"/>
                </a:solidFill>
                <a:latin typeface="Bitstream Charter"/>
                <a:ea typeface="Bitstream Charter"/>
                <a:cs typeface="Bitstream Charter"/>
              </a:defRPr>
            </a:pPr>
            <a:r>
              <a:rPr sz="1650" b="0">
                <a:solidFill>
                  <a:srgbClr val="17212B"/>
                </a:solidFill>
                <a:latin typeface="Bitstream Charter"/>
                <a:ea typeface="Bitstream Charter"/>
                <a:cs typeface="Bitstream Charter"/>
              </a:rPr>
              <a:t>Approximately 588,000 users</a:t>
            </a:r>
          </a:p>
          <a:p>
            <a:pPr>
              <a:defRPr sz="1650" b="0">
                <a:solidFill>
                  <a:srgbClr val="17212B"/>
                </a:solidFill>
                <a:latin typeface="Bitstream Charter"/>
                <a:ea typeface="Bitstream Charter"/>
                <a:cs typeface="Bitstream Charter"/>
              </a:defRPr>
            </a:pPr>
            <a:r>
              <a:rPr sz="1650" b="0">
                <a:solidFill>
                  <a:srgbClr val="17212B"/>
                </a:solidFill>
                <a:latin typeface="Bitstream Charter"/>
                <a:ea typeface="Bitstream Charter"/>
                <a:cs typeface="Bitstream Charter"/>
              </a:rPr>
              <a:t>Regular ads vs PSA messages</a:t>
            </a:r>
          </a:p>
          <a:p>
            <a:pPr>
              <a:defRPr sz="1650" b="0">
                <a:solidFill>
                  <a:srgbClr val="17212B"/>
                </a:solidFill>
                <a:latin typeface="Bitstream Charter"/>
                <a:ea typeface="Bitstream Charter"/>
                <a:cs typeface="Bitstream Charter"/>
              </a:defRPr>
            </a:pPr>
            <a:r>
              <a:rPr sz="1650" b="0">
                <a:solidFill>
                  <a:srgbClr val="17212B"/>
                </a:solidFill>
                <a:latin typeface="Bitstream Charter"/>
                <a:ea typeface="Bitstream Charter"/>
                <a:cs typeface="Bitstream Charter"/>
              </a:rPr>
              <a:t>Binary outcome: conversion</a:t>
            </a:r>
          </a:p>
        </p:txBody>
      </p:sp>
      <p:sp>
        <p:nvSpPr>
          <p:cNvPr id="6" name="Rectangle 5">
            <a:extLst>
              <a:ext uri="{FF2B5EF4-FFF2-40B4-BE49-F238E27FC236}">
                <a16:creationId xmlns:a16="http://schemas.microsoft.com/office/drawing/2014/main" id="{B25A9B75-15DB-4E91-85D4-69ABCE24CF00}"/>
              </a:ext>
            </a:extLst>
          </p:cNvPr>
          <p:cNvSpPr>
            <a:spLocks noGrp="1"/>
          </p:cNvSpPr>
          <p:nvPr/>
        </p:nvSpPr>
        <p:spPr>
          <a:xfrm>
            <a:off x="6667500" y="1952625"/>
            <a:ext cx="2571750" cy="523875"/>
          </a:xfrm>
          <a:prstGeom prst="rect">
            <a:avLst/>
          </a:prstGeom>
          <a:noFill/>
          <a:ln w="0">
            <a:noFill/>
          </a:ln>
        </p:spPr>
        <p:txBody>
          <a:bodyPr>
            <a:normAutofit/>
          </a:bodyPr>
          <a:lstStyle/>
          <a:p>
            <a:pPr algn="ctr">
              <a:defRPr sz="2775" b="1">
                <a:solidFill>
                  <a:srgbClr val="0F8B8D"/>
                </a:solidFill>
                <a:latin typeface="Bitstream Charter"/>
                <a:ea typeface="Bitstream Charter"/>
                <a:cs typeface="Bitstream Charter"/>
              </a:defRPr>
            </a:pPr>
            <a:r>
              <a:rPr sz="2775" b="1">
                <a:solidFill>
                  <a:srgbClr val="0F8B8D"/>
                </a:solidFill>
                <a:latin typeface="Bitstream Charter"/>
                <a:ea typeface="Bitstream Charter"/>
                <a:cs typeface="Bitstream Charter"/>
              </a:rPr>
              <a:t>~588K</a:t>
            </a:r>
          </a:p>
        </p:txBody>
      </p:sp>
      <p:sp>
        <p:nvSpPr>
          <p:cNvPr id="7" name="Rectangle 6">
            <a:extLst>
              <a:ext uri="{FF2B5EF4-FFF2-40B4-BE49-F238E27FC236}">
                <a16:creationId xmlns:a16="http://schemas.microsoft.com/office/drawing/2014/main" id="{BEEB4802-7FFE-4847-981E-6EC731B269B2}"/>
              </a:ext>
            </a:extLst>
          </p:cNvPr>
          <p:cNvSpPr>
            <a:spLocks noGrp="1"/>
          </p:cNvSpPr>
          <p:nvPr/>
        </p:nvSpPr>
        <p:spPr>
          <a:xfrm>
            <a:off x="6667500" y="252412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users analysed</a:t>
            </a:r>
          </a:p>
        </p:txBody>
      </p:sp>
      <p:sp>
        <p:nvSpPr>
          <p:cNvPr id="8" name="Rectangle 7">
            <a:extLst>
              <a:ext uri="{FF2B5EF4-FFF2-40B4-BE49-F238E27FC236}">
                <a16:creationId xmlns:a16="http://schemas.microsoft.com/office/drawing/2014/main" id="{7B7ACBF6-9E3B-48C5-9966-CB60D37AAC75}"/>
              </a:ext>
            </a:extLst>
          </p:cNvPr>
          <p:cNvSpPr>
            <a:spLocks noGrp="1"/>
          </p:cNvSpPr>
          <p:nvPr/>
        </p:nvSpPr>
        <p:spPr>
          <a:xfrm>
            <a:off x="9144000" y="1952625"/>
            <a:ext cx="2571750" cy="523875"/>
          </a:xfrm>
          <a:prstGeom prst="rect">
            <a:avLst/>
          </a:prstGeom>
          <a:noFill/>
          <a:ln w="0">
            <a:noFill/>
          </a:ln>
        </p:spPr>
        <p:txBody>
          <a:bodyPr>
            <a:normAutofit/>
          </a:bodyPr>
          <a:lstStyle/>
          <a:p>
            <a:pPr algn="ctr">
              <a:defRPr sz="2775" b="1">
                <a:solidFill>
                  <a:srgbClr val="236192"/>
                </a:solidFill>
                <a:latin typeface="Bitstream Charter"/>
                <a:ea typeface="Bitstream Charter"/>
                <a:cs typeface="Bitstream Charter"/>
              </a:defRPr>
            </a:pPr>
            <a:r>
              <a:rPr sz="2775" b="1">
                <a:solidFill>
                  <a:srgbClr val="236192"/>
                </a:solidFill>
                <a:latin typeface="Bitstream Charter"/>
                <a:ea typeface="Bitstream Charter"/>
                <a:cs typeface="Bitstream Charter"/>
              </a:rPr>
              <a:t>2</a:t>
            </a:r>
          </a:p>
        </p:txBody>
      </p:sp>
      <p:sp>
        <p:nvSpPr>
          <p:cNvPr id="9" name="Rectangle 8">
            <a:extLst>
              <a:ext uri="{FF2B5EF4-FFF2-40B4-BE49-F238E27FC236}">
                <a16:creationId xmlns:a16="http://schemas.microsoft.com/office/drawing/2014/main" id="{FA603A79-D5A8-4FC9-930F-168D4E205524}"/>
              </a:ext>
            </a:extLst>
          </p:cNvPr>
          <p:cNvSpPr>
            <a:spLocks noGrp="1"/>
          </p:cNvSpPr>
          <p:nvPr/>
        </p:nvSpPr>
        <p:spPr>
          <a:xfrm>
            <a:off x="9144000" y="252412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comparison groups</a:t>
            </a:r>
          </a:p>
        </p:txBody>
      </p:sp>
      <p:sp>
        <p:nvSpPr>
          <p:cNvPr id="10" name="Rectangle 9">
            <a:extLst>
              <a:ext uri="{FF2B5EF4-FFF2-40B4-BE49-F238E27FC236}">
                <a16:creationId xmlns:a16="http://schemas.microsoft.com/office/drawing/2014/main" id="{2E458115-0F8A-4E4A-AA0E-291E58B27841}"/>
              </a:ext>
            </a:extLst>
          </p:cNvPr>
          <p:cNvSpPr>
            <a:spLocks noGrp="1"/>
          </p:cNvSpPr>
          <p:nvPr/>
        </p:nvSpPr>
        <p:spPr>
          <a:xfrm>
            <a:off x="6667500" y="3238500"/>
            <a:ext cx="4095750" cy="304800"/>
          </a:xfrm>
          <a:prstGeom prst="rect">
            <a:avLst/>
          </a:prstGeom>
          <a:noFill/>
          <a:ln w="0">
            <a:noFill/>
          </a:ln>
        </p:spPr>
        <p:txBody>
          <a:bodyPr>
            <a:normAutofit fontScale="93333"/>
          </a:bodyPr>
          <a:lstStyle/>
          <a:p>
            <a:pPr>
              <a:defRPr sz="1500" b="1">
                <a:solidFill>
                  <a:srgbClr val="123047"/>
                </a:solidFill>
                <a:latin typeface="Bitstream Charter"/>
                <a:ea typeface="Bitstream Charter"/>
                <a:cs typeface="Bitstream Charter"/>
              </a:defRPr>
            </a:pPr>
            <a:r>
              <a:rPr sz="1500" b="1">
                <a:solidFill>
                  <a:srgbClr val="123047"/>
                </a:solidFill>
                <a:latin typeface="Bitstream Charter"/>
                <a:ea typeface="Bitstream Charter"/>
                <a:cs typeface="Bitstream Charter"/>
              </a:rPr>
              <a:t>Why this is relevant to Measurement Success</a:t>
            </a:r>
          </a:p>
        </p:txBody>
      </p:sp>
      <p:sp>
        <p:nvSpPr>
          <p:cNvPr id="11" name="Rectangle 10">
            <a:extLst>
              <a:ext uri="{FF2B5EF4-FFF2-40B4-BE49-F238E27FC236}">
                <a16:creationId xmlns:a16="http://schemas.microsoft.com/office/drawing/2014/main" id="{B66ED4AB-E5EB-46D0-9A83-F3993B397EE2}"/>
              </a:ext>
            </a:extLst>
          </p:cNvPr>
          <p:cNvSpPr>
            <a:spLocks noGrp="1"/>
          </p:cNvSpPr>
          <p:nvPr/>
        </p:nvSpPr>
        <p:spPr>
          <a:xfrm>
            <a:off x="6667500" y="3667125"/>
            <a:ext cx="4191000" cy="1143000"/>
          </a:xfrm>
          <a:prstGeom prst="rect">
            <a:avLst/>
          </a:prstGeom>
          <a:noFill/>
          <a:ln w="0">
            <a:noFill/>
          </a:ln>
        </p:spPr>
        <p:txBody>
          <a:bodyPr>
            <a:normAutofit fontScale="92000"/>
          </a:bodyPr>
          <a:lstStyle/>
          <a:p>
            <a:pPr>
              <a:defRPr sz="1500" b="0">
                <a:solidFill>
                  <a:srgbClr val="17212B"/>
                </a:solidFill>
                <a:latin typeface="Bitstream Charter"/>
                <a:ea typeface="Bitstream Charter"/>
                <a:cs typeface="Bitstream Charter"/>
              </a:defRPr>
            </a:pPr>
            <a:r>
              <a:rPr sz="1500" b="0">
                <a:solidFill>
                  <a:srgbClr val="17212B"/>
                </a:solidFill>
                <a:latin typeface="Bitstream Charter"/>
                <a:ea typeface="Bitstream Charter"/>
                <a:cs typeface="Bitstream Charter"/>
              </a:rPr>
              <a:t>The workflow mirrors core campaign measurement tasks:</a:t>
            </a:r>
          </a:p>
          <a:p>
            <a:pPr>
              <a:defRPr sz="1500" b="0">
                <a:solidFill>
                  <a:srgbClr val="17212B"/>
                </a:solidFill>
                <a:latin typeface="Bitstream Charter"/>
                <a:ea typeface="Bitstream Charter"/>
                <a:cs typeface="Bitstream Charter"/>
              </a:defRPr>
            </a:pPr>
            <a:r>
              <a:rPr sz="1500" b="0">
                <a:solidFill>
                  <a:srgbClr val="17212B"/>
                </a:solidFill>
                <a:latin typeface="Bitstream Charter"/>
                <a:ea typeface="Bitstream Charter"/>
                <a:cs typeface="Bitstream Charter"/>
              </a:rPr>
              <a:t>validate data, compare exposed and control groups, quantify uplift, and explain business implications clearly.</a:t>
            </a:r>
          </a:p>
        </p:txBody>
      </p:sp>
      <p:sp>
        <p:nvSpPr>
          <p:cNvPr id="12" name="Rectangle 11">
            <a:extLst>
              <a:ext uri="{FF2B5EF4-FFF2-40B4-BE49-F238E27FC236}">
                <a16:creationId xmlns:a16="http://schemas.microsoft.com/office/drawing/2014/main" id="{2248C808-5CC9-4523-9055-3874A39DD262}"/>
              </a:ext>
            </a:extLst>
          </p:cNvPr>
          <p:cNvSpPr>
            <a:spLocks noGrp="1"/>
          </p:cNvSpPr>
          <p:nvPr/>
        </p:nvSpPr>
        <p:spPr>
          <a:xfrm>
            <a:off x="685800" y="5334000"/>
            <a:ext cx="10096500" cy="457200"/>
          </a:xfrm>
          <a:prstGeom prst="rect">
            <a:avLst/>
          </a:prstGeom>
          <a:noFill/>
          <a:ln w="0">
            <a:noFill/>
          </a:ln>
        </p:spPr>
        <p:txBody>
          <a:bodyPr>
            <a:normAutofit fontScale="94875"/>
          </a:bodyPr>
          <a:lstStyle/>
          <a:p>
            <a:pPr>
              <a:defRPr sz="1350" b="0">
                <a:solidFill>
                  <a:srgbClr val="5A6975"/>
                </a:solidFill>
                <a:latin typeface="Bitstream Charter"/>
                <a:ea typeface="Bitstream Charter"/>
                <a:cs typeface="Bitstream Charter"/>
              </a:defRPr>
            </a:pPr>
            <a:r>
              <a:rPr sz="1350" b="0">
                <a:solidFill>
                  <a:srgbClr val="5A6975"/>
                </a:solidFill>
                <a:latin typeface="Bitstream Charter"/>
                <a:ea typeface="Bitstream Charter"/>
                <a:cs typeface="Bitstream Charter"/>
              </a:rPr>
              <a:t>Conversion is used here as the outcome metric. In client work, the equivalent KPI could be Brand Lift or another agreed campaign outcome.</a:t>
            </a:r>
          </a:p>
        </p:txBody>
      </p:sp>
      <p:sp>
        <p:nvSpPr>
          <p:cNvPr id="13" name="Rectangle 12">
            <a:extLst>
              <a:ext uri="{FF2B5EF4-FFF2-40B4-BE49-F238E27FC236}">
                <a16:creationId xmlns:a16="http://schemas.microsoft.com/office/drawing/2014/main" id="{FFB3B340-0E69-4E57-8B80-479517C0FD4A}"/>
              </a:ext>
            </a:extLst>
          </p:cNvPr>
          <p:cNvSpPr>
            <a:spLocks noGrp="1"/>
          </p:cNvSpPr>
          <p:nvPr/>
        </p:nvSpPr>
        <p:spPr>
          <a:xfrm>
            <a:off x="685800" y="6477000"/>
            <a:ext cx="3333750" cy="171450"/>
          </a:xfrm>
          <a:prstGeom prst="rect">
            <a:avLst/>
          </a:prstGeom>
          <a:noFill/>
          <a:ln w="0">
            <a:noFill/>
          </a:ln>
        </p:spPr>
        <p:txBody>
          <a:bodyPr>
            <a:normAutofit fontScale="77778"/>
          </a:bodyPr>
          <a:lstStyle/>
          <a:p>
            <a:pPr>
              <a:defRPr sz="675" b="0">
                <a:solidFill>
                  <a:srgbClr val="5A6975"/>
                </a:solidFill>
                <a:latin typeface="Bitstream Charter"/>
                <a:ea typeface="Bitstream Charter"/>
                <a:cs typeface="Bitstream Charter"/>
              </a:defRPr>
            </a:pPr>
            <a:r>
              <a:rPr sz="675" b="0">
                <a:solidFill>
                  <a:srgbClr val="5A6975"/>
                </a:solidFill>
                <a:latin typeface="Bitstream Charter"/>
                <a:ea typeface="Bitstream Charter"/>
                <a:cs typeface="Bitstream Charter"/>
              </a:rPr>
              <a:t>Campaign Measurement Case Study  |  2</a:t>
            </a:r>
          </a:p>
        </p:txBody>
      </p:sp>
    </p:spTree>
    <p:extLst>
      <p:ext uri="{BB962C8B-B14F-4D97-AF65-F5344CB8AC3E}">
        <p14:creationId xmlns:p14="http://schemas.microsoft.com/office/powerpoint/2010/main" val="46742818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3" name="Rectangle 12">
            <a:extLst>
              <a:ext uri="{FF2B5EF4-FFF2-40B4-BE49-F238E27FC236}">
                <a16:creationId xmlns:a16="http://schemas.microsoft.com/office/drawing/2014/main" id="{D102F5F2-1F79-4012-AB7D-CF9DDAA63D82}"/>
              </a:ext>
            </a:extLst>
          </p:cNvPr>
          <p:cNvSpPr>
            <a:spLocks noGrp="1"/>
          </p:cNvSpPr>
          <p:nvPr/>
        </p:nvSpPr>
        <p:spPr>
          <a:xfrm>
            <a:off x="666750" y="438150"/>
            <a:ext cx="8477250" cy="523875"/>
          </a:xfrm>
          <a:prstGeom prst="rect">
            <a:avLst/>
          </a:prstGeom>
          <a:noFill/>
          <a:ln w="0">
            <a:noFill/>
          </a:ln>
        </p:spPr>
        <p:txBody>
          <a:bodyPr>
            <a:normAutofit/>
          </a:bodyPr>
          <a:lstStyle/>
          <a:p>
            <a:pPr>
              <a:defRPr sz="2250" b="1">
                <a:solidFill>
                  <a:srgbClr val="123047"/>
                </a:solidFill>
                <a:latin typeface="Bitstream Charter"/>
                <a:ea typeface="Bitstream Charter"/>
                <a:cs typeface="Bitstream Charter"/>
              </a:defRPr>
            </a:pPr>
            <a:r>
              <a:rPr sz="2250" b="1">
                <a:solidFill>
                  <a:srgbClr val="123047"/>
                </a:solidFill>
                <a:latin typeface="Bitstream Charter"/>
                <a:ea typeface="Bitstream Charter"/>
                <a:cs typeface="Bitstream Charter"/>
              </a:rPr>
              <a:t>Regular advertising produced higher conversion</a:t>
            </a:r>
          </a:p>
        </p:txBody>
      </p:sp>
      <p:sp>
        <p:nvSpPr>
          <p:cNvPr id="2" name="Rectangle 1">
            <a:extLst>
              <a:ext uri="{FF2B5EF4-FFF2-40B4-BE49-F238E27FC236}">
                <a16:creationId xmlns:a16="http://schemas.microsoft.com/office/drawing/2014/main" id="{DB6BA0E8-6A83-4FD6-BD7F-1057326F23A4}"/>
              </a:ext>
            </a:extLst>
          </p:cNvPr>
          <p:cNvSpPr>
            <a:spLocks noGrp="1"/>
          </p:cNvSpPr>
          <p:nvPr/>
        </p:nvSpPr>
        <p:spPr>
          <a:xfrm>
            <a:off x="685800" y="1009650"/>
            <a:ext cx="8763000" cy="285750"/>
          </a:xfrm>
          <a:prstGeom prst="rect">
            <a:avLst/>
          </a:prstGeom>
          <a:noFill/>
          <a:ln w="0">
            <a:noFill/>
          </a:ln>
        </p:spPr>
        <p:txBody>
          <a:bodyPr>
            <a:normAutofit/>
          </a:bodyPr>
          <a:lstStyle/>
          <a:p>
            <a:pPr>
              <a:defRPr sz="1125" b="0">
                <a:solidFill>
                  <a:srgbClr val="5A6975"/>
                </a:solidFill>
                <a:latin typeface="Bitstream Charter"/>
                <a:ea typeface="Bitstream Charter"/>
                <a:cs typeface="Bitstream Charter"/>
              </a:defRPr>
            </a:pPr>
            <a:r>
              <a:rPr sz="1125" b="0">
                <a:solidFill>
                  <a:srgbClr val="5A6975"/>
                </a:solidFill>
                <a:latin typeface="Bitstream Charter"/>
                <a:ea typeface="Bitstream Charter"/>
                <a:cs typeface="Bitstream Charter"/>
              </a:rPr>
              <a:t>The difference was statistically significant</a:t>
            </a:r>
          </a:p>
        </p:txBody>
      </p:sp>
      <p:sp>
        <p:nvSpPr>
          <p:cNvPr id="3" name="Rectangle 2">
            <a:extLst>
              <a:ext uri="{FF2B5EF4-FFF2-40B4-BE49-F238E27FC236}">
                <a16:creationId xmlns:a16="http://schemas.microsoft.com/office/drawing/2014/main" id="{59008403-8067-49B1-8881-D7467006F664}"/>
              </a:ext>
            </a:extLst>
          </p:cNvPr>
          <p:cNvSpPr>
            <a:spLocks noGrp="1"/>
          </p:cNvSpPr>
          <p:nvPr/>
        </p:nvSpPr>
        <p:spPr>
          <a:xfrm>
            <a:off x="685800" y="1381125"/>
            <a:ext cx="10820400" cy="19050"/>
          </a:xfrm>
          <a:prstGeom prst="rect">
            <a:avLst/>
          </a:prstGeom>
          <a:solidFill>
            <a:srgbClr val="236192"/>
          </a:solidFill>
          <a:ln w="0">
            <a:solidFill>
              <a:srgbClr val="236192"/>
            </a:solidFill>
          </a:ln>
        </p:spPr>
        <p:txBody>
          <a:bodyPr/>
          <a:lstStyle/>
          <a:p>
            <a:endParaRPr lang="ja-JP" altLang="en-US"/>
          </a:p>
        </p:txBody>
      </p:sp>
      <p:graphicFrame>
        <p:nvGraphicFramePr>
          <p:cNvPr id="16" name="Chart"/>
          <p:cNvGraphicFramePr/>
          <p:nvPr/>
        </p:nvGraphicFramePr>
        <p:xfrm>
          <a:off x="1000125" y="1952625"/>
          <a:ext cx="6572250" cy="3619500"/>
        </p:xfrm>
        <a:graphic>
          <a:graphicData uri="http://schemas.openxmlformats.org/drawingml/2006/chart">
            <c:chart xmlns:c="http://schemas.openxmlformats.org/drawingml/2006/chart" xmlns:r="http://schemas.openxmlformats.org/officeDocument/2006/relationships" r:id="rId3"/>
          </a:graphicData>
        </a:graphic>
      </p:graphicFrame>
      <p:sp>
        <p:nvSpPr>
          <p:cNvPr id="5" name="Rectangle 4">
            <a:extLst>
              <a:ext uri="{FF2B5EF4-FFF2-40B4-BE49-F238E27FC236}">
                <a16:creationId xmlns:a16="http://schemas.microsoft.com/office/drawing/2014/main" id="{82D1AE93-D54E-4B69-A1AA-C1EDA5F13D0D}"/>
              </a:ext>
            </a:extLst>
          </p:cNvPr>
          <p:cNvSpPr>
            <a:spLocks noGrp="1"/>
          </p:cNvSpPr>
          <p:nvPr/>
        </p:nvSpPr>
        <p:spPr>
          <a:xfrm>
            <a:off x="8334375" y="2238375"/>
            <a:ext cx="2571750" cy="523875"/>
          </a:xfrm>
          <a:prstGeom prst="rect">
            <a:avLst/>
          </a:prstGeom>
          <a:noFill/>
          <a:ln w="0">
            <a:noFill/>
          </a:ln>
        </p:spPr>
        <p:txBody>
          <a:bodyPr>
            <a:normAutofit/>
          </a:bodyPr>
          <a:lstStyle/>
          <a:p>
            <a:pPr algn="ctr">
              <a:defRPr sz="2775" b="1">
                <a:solidFill>
                  <a:srgbClr val="E5755B"/>
                </a:solidFill>
                <a:latin typeface="Bitstream Charter"/>
                <a:ea typeface="Bitstream Charter"/>
                <a:cs typeface="Bitstream Charter"/>
              </a:defRPr>
            </a:pPr>
            <a:r>
              <a:rPr sz="2775" b="1">
                <a:solidFill>
                  <a:srgbClr val="E5755B"/>
                </a:solidFill>
                <a:latin typeface="Bitstream Charter"/>
                <a:ea typeface="Bitstream Charter"/>
                <a:cs typeface="Bitstream Charter"/>
              </a:rPr>
              <a:t>+0.77 pp</a:t>
            </a:r>
          </a:p>
        </p:txBody>
      </p:sp>
      <p:sp>
        <p:nvSpPr>
          <p:cNvPr id="6" name="Rectangle 5">
            <a:extLst>
              <a:ext uri="{FF2B5EF4-FFF2-40B4-BE49-F238E27FC236}">
                <a16:creationId xmlns:a16="http://schemas.microsoft.com/office/drawing/2014/main" id="{1FE6D36E-D8ED-4212-8F49-11D253A833D7}"/>
              </a:ext>
            </a:extLst>
          </p:cNvPr>
          <p:cNvSpPr>
            <a:spLocks noGrp="1"/>
          </p:cNvSpPr>
          <p:nvPr/>
        </p:nvSpPr>
        <p:spPr>
          <a:xfrm>
            <a:off x="8334375" y="280987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absolute uplift</a:t>
            </a:r>
          </a:p>
        </p:txBody>
      </p:sp>
      <p:sp>
        <p:nvSpPr>
          <p:cNvPr id="7" name="Rectangle 6">
            <a:extLst>
              <a:ext uri="{FF2B5EF4-FFF2-40B4-BE49-F238E27FC236}">
                <a16:creationId xmlns:a16="http://schemas.microsoft.com/office/drawing/2014/main" id="{7DBBD0C0-5672-4284-BECB-863C896168EC}"/>
              </a:ext>
            </a:extLst>
          </p:cNvPr>
          <p:cNvSpPr>
            <a:spLocks noGrp="1"/>
          </p:cNvSpPr>
          <p:nvPr/>
        </p:nvSpPr>
        <p:spPr>
          <a:xfrm>
            <a:off x="8334375" y="3476625"/>
            <a:ext cx="2571750" cy="523875"/>
          </a:xfrm>
          <a:prstGeom prst="rect">
            <a:avLst/>
          </a:prstGeom>
          <a:noFill/>
          <a:ln w="0">
            <a:noFill/>
          </a:ln>
        </p:spPr>
        <p:txBody>
          <a:bodyPr>
            <a:normAutofit/>
          </a:bodyPr>
          <a:lstStyle/>
          <a:p>
            <a:pPr algn="ctr">
              <a:defRPr sz="2775" b="1">
                <a:solidFill>
                  <a:srgbClr val="0F8B8D"/>
                </a:solidFill>
                <a:latin typeface="Bitstream Charter"/>
                <a:ea typeface="Bitstream Charter"/>
                <a:cs typeface="Bitstream Charter"/>
              </a:defRPr>
            </a:pPr>
            <a:r>
              <a:rPr sz="2775" b="1">
                <a:solidFill>
                  <a:srgbClr val="0F8B8D"/>
                </a:solidFill>
                <a:latin typeface="Bitstream Charter"/>
                <a:ea typeface="Bitstream Charter"/>
                <a:cs typeface="Bitstream Charter"/>
              </a:rPr>
              <a:t>~43%</a:t>
            </a:r>
          </a:p>
        </p:txBody>
      </p:sp>
      <p:sp>
        <p:nvSpPr>
          <p:cNvPr id="8" name="Rectangle 7">
            <a:extLst>
              <a:ext uri="{FF2B5EF4-FFF2-40B4-BE49-F238E27FC236}">
                <a16:creationId xmlns:a16="http://schemas.microsoft.com/office/drawing/2014/main" id="{26BDCA6F-4F90-4D43-8724-A4907B9FDD60}"/>
              </a:ext>
            </a:extLst>
          </p:cNvPr>
          <p:cNvSpPr>
            <a:spLocks noGrp="1"/>
          </p:cNvSpPr>
          <p:nvPr/>
        </p:nvSpPr>
        <p:spPr>
          <a:xfrm>
            <a:off x="8334375" y="404812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relative uplift</a:t>
            </a:r>
          </a:p>
        </p:txBody>
      </p:sp>
      <p:sp>
        <p:nvSpPr>
          <p:cNvPr id="9" name="Rectangle 8">
            <a:extLst>
              <a:ext uri="{FF2B5EF4-FFF2-40B4-BE49-F238E27FC236}">
                <a16:creationId xmlns:a16="http://schemas.microsoft.com/office/drawing/2014/main" id="{0907B31F-52B9-40B5-9F23-227617CFF568}"/>
              </a:ext>
            </a:extLst>
          </p:cNvPr>
          <p:cNvSpPr>
            <a:spLocks noGrp="1"/>
          </p:cNvSpPr>
          <p:nvPr/>
        </p:nvSpPr>
        <p:spPr>
          <a:xfrm>
            <a:off x="8334375" y="4714875"/>
            <a:ext cx="2571750" cy="523875"/>
          </a:xfrm>
          <a:prstGeom prst="rect">
            <a:avLst/>
          </a:prstGeom>
          <a:noFill/>
          <a:ln w="0">
            <a:noFill/>
          </a:ln>
        </p:spPr>
        <p:txBody>
          <a:bodyPr>
            <a:normAutofit/>
          </a:bodyPr>
          <a:lstStyle/>
          <a:p>
            <a:pPr algn="ctr">
              <a:defRPr sz="2775" b="1">
                <a:solidFill>
                  <a:srgbClr val="236192"/>
                </a:solidFill>
                <a:latin typeface="Bitstream Charter"/>
                <a:ea typeface="Bitstream Charter"/>
                <a:cs typeface="Bitstream Charter"/>
              </a:defRPr>
            </a:pPr>
            <a:r>
              <a:rPr sz="2775" b="1">
                <a:solidFill>
                  <a:srgbClr val="236192"/>
                </a:solidFill>
                <a:latin typeface="Bitstream Charter"/>
                <a:ea typeface="Bitstream Charter"/>
                <a:cs typeface="Bitstream Charter"/>
              </a:rPr>
              <a:t>p &lt; 0.001</a:t>
            </a:r>
          </a:p>
        </p:txBody>
      </p:sp>
      <p:sp>
        <p:nvSpPr>
          <p:cNvPr id="10" name="Rectangle 9">
            <a:extLst>
              <a:ext uri="{FF2B5EF4-FFF2-40B4-BE49-F238E27FC236}">
                <a16:creationId xmlns:a16="http://schemas.microsoft.com/office/drawing/2014/main" id="{D841BD31-A597-4A98-8FB0-C7D8F54FD146}"/>
              </a:ext>
            </a:extLst>
          </p:cNvPr>
          <p:cNvSpPr>
            <a:spLocks noGrp="1"/>
          </p:cNvSpPr>
          <p:nvPr/>
        </p:nvSpPr>
        <p:spPr>
          <a:xfrm>
            <a:off x="8334375" y="528637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two-proportion z-test</a:t>
            </a:r>
          </a:p>
        </p:txBody>
      </p:sp>
      <p:sp>
        <p:nvSpPr>
          <p:cNvPr id="11" name="Rectangle 10">
            <a:extLst>
              <a:ext uri="{FF2B5EF4-FFF2-40B4-BE49-F238E27FC236}">
                <a16:creationId xmlns:a16="http://schemas.microsoft.com/office/drawing/2014/main" id="{A3BAADF3-FF95-4BD5-8DB0-1931E096DEB5}"/>
              </a:ext>
            </a:extLst>
          </p:cNvPr>
          <p:cNvSpPr>
            <a:spLocks noGrp="1"/>
          </p:cNvSpPr>
          <p:nvPr/>
        </p:nvSpPr>
        <p:spPr>
          <a:xfrm>
            <a:off x="952500" y="5810250"/>
            <a:ext cx="9144000" cy="400050"/>
          </a:xfrm>
          <a:prstGeom prst="rect">
            <a:avLst/>
          </a:prstGeom>
          <a:noFill/>
          <a:ln w="0">
            <a:noFill/>
          </a:ln>
        </p:spPr>
        <p:txBody>
          <a:bodyPr>
            <a:normAutofit fontScale="84286"/>
          </a:bodyPr>
          <a:lstStyle/>
          <a:p>
            <a:pPr>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Interpretation: the observed gap is unlikely to be due to chance, supporting a positive association between regular advertising and conversion.</a:t>
            </a:r>
          </a:p>
        </p:txBody>
      </p:sp>
      <p:sp>
        <p:nvSpPr>
          <p:cNvPr id="12" name="Rectangle 11">
            <a:extLst>
              <a:ext uri="{FF2B5EF4-FFF2-40B4-BE49-F238E27FC236}">
                <a16:creationId xmlns:a16="http://schemas.microsoft.com/office/drawing/2014/main" id="{C5F9733F-FB8E-429B-B0BD-B76C77120E96}"/>
              </a:ext>
            </a:extLst>
          </p:cNvPr>
          <p:cNvSpPr>
            <a:spLocks noGrp="1"/>
          </p:cNvSpPr>
          <p:nvPr/>
        </p:nvSpPr>
        <p:spPr>
          <a:xfrm>
            <a:off x="685800" y="6477000"/>
            <a:ext cx="3333750" cy="171450"/>
          </a:xfrm>
          <a:prstGeom prst="rect">
            <a:avLst/>
          </a:prstGeom>
          <a:noFill/>
          <a:ln w="0">
            <a:noFill/>
          </a:ln>
        </p:spPr>
        <p:txBody>
          <a:bodyPr>
            <a:normAutofit fontScale="77778"/>
          </a:bodyPr>
          <a:lstStyle/>
          <a:p>
            <a:pPr>
              <a:defRPr sz="675" b="0">
                <a:solidFill>
                  <a:srgbClr val="5A6975"/>
                </a:solidFill>
                <a:latin typeface="Bitstream Charter"/>
                <a:ea typeface="Bitstream Charter"/>
                <a:cs typeface="Bitstream Charter"/>
              </a:defRPr>
            </a:pPr>
            <a:r>
              <a:rPr sz="675" b="0">
                <a:solidFill>
                  <a:srgbClr val="5A6975"/>
                </a:solidFill>
                <a:latin typeface="Bitstream Charter"/>
                <a:ea typeface="Bitstream Charter"/>
                <a:cs typeface="Bitstream Charter"/>
              </a:rPr>
              <a:t>Campaign Measurement Case Study  |  3</a:t>
            </a:r>
          </a:p>
        </p:txBody>
      </p:sp>
    </p:spTree>
    <p:extLst>
      <p:ext uri="{BB962C8B-B14F-4D97-AF65-F5344CB8AC3E}">
        <p14:creationId xmlns:p14="http://schemas.microsoft.com/office/powerpoint/2010/main" val="1253468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529C7887-3AC8-4E40-95F5-0D6696F0EF3C}"/>
              </a:ext>
            </a:extLst>
          </p:cNvPr>
          <p:cNvSpPr>
            <a:spLocks noGrp="1"/>
          </p:cNvSpPr>
          <p:nvPr/>
        </p:nvSpPr>
        <p:spPr>
          <a:xfrm>
            <a:off x="666750" y="438150"/>
            <a:ext cx="8477250" cy="523875"/>
          </a:xfrm>
          <a:prstGeom prst="rect">
            <a:avLst/>
          </a:prstGeom>
          <a:noFill/>
          <a:ln w="0">
            <a:noFill/>
          </a:ln>
        </p:spPr>
        <p:txBody>
          <a:bodyPr>
            <a:normAutofit/>
          </a:bodyPr>
          <a:lstStyle/>
          <a:p>
            <a:pPr>
              <a:defRPr sz="2250" b="1">
                <a:solidFill>
                  <a:srgbClr val="123047"/>
                </a:solidFill>
                <a:latin typeface="Bitstream Charter"/>
                <a:ea typeface="Bitstream Charter"/>
                <a:cs typeface="Bitstream Charter"/>
              </a:defRPr>
            </a:pPr>
            <a:r>
              <a:rPr sz="2250" b="1">
                <a:solidFill>
                  <a:srgbClr val="123047"/>
                </a:solidFill>
                <a:latin typeface="Bitstream Charter"/>
                <a:ea typeface="Bitstream Charter"/>
                <a:cs typeface="Bitstream Charter"/>
              </a:rPr>
              <a:t>Analysis workflow</a:t>
            </a:r>
          </a:p>
        </p:txBody>
      </p:sp>
      <p:sp>
        <p:nvSpPr>
          <p:cNvPr id="2" name="Rectangle 1">
            <a:extLst>
              <a:ext uri="{FF2B5EF4-FFF2-40B4-BE49-F238E27FC236}">
                <a16:creationId xmlns:a16="http://schemas.microsoft.com/office/drawing/2014/main" id="{5E26A346-B36D-41A2-BABF-CE45F02F7D95}"/>
              </a:ext>
            </a:extLst>
          </p:cNvPr>
          <p:cNvSpPr>
            <a:spLocks noGrp="1"/>
          </p:cNvSpPr>
          <p:nvPr/>
        </p:nvSpPr>
        <p:spPr>
          <a:xfrm>
            <a:off x="685800" y="1009650"/>
            <a:ext cx="8763000" cy="285750"/>
          </a:xfrm>
          <a:prstGeom prst="rect">
            <a:avLst/>
          </a:prstGeom>
          <a:noFill/>
          <a:ln w="0">
            <a:noFill/>
          </a:ln>
        </p:spPr>
        <p:txBody>
          <a:bodyPr>
            <a:normAutofit/>
          </a:bodyPr>
          <a:lstStyle/>
          <a:p>
            <a:pPr>
              <a:defRPr sz="1125" b="0">
                <a:solidFill>
                  <a:srgbClr val="5A6975"/>
                </a:solidFill>
                <a:latin typeface="Bitstream Charter"/>
                <a:ea typeface="Bitstream Charter"/>
                <a:cs typeface="Bitstream Charter"/>
              </a:defRPr>
            </a:pPr>
            <a:r>
              <a:rPr sz="1125" b="0">
                <a:solidFill>
                  <a:srgbClr val="5A6975"/>
                </a:solidFill>
                <a:latin typeface="Bitstream Charter"/>
                <a:ea typeface="Bitstream Charter"/>
                <a:cs typeface="Bitstream Charter"/>
              </a:rPr>
              <a:t>From raw data to client-ready findings</a:t>
            </a:r>
          </a:p>
        </p:txBody>
      </p:sp>
      <p:sp>
        <p:nvSpPr>
          <p:cNvPr id="3" name="Rectangle 2">
            <a:extLst>
              <a:ext uri="{FF2B5EF4-FFF2-40B4-BE49-F238E27FC236}">
                <a16:creationId xmlns:a16="http://schemas.microsoft.com/office/drawing/2014/main" id="{711F76A9-86C0-416F-89C3-3E6D6FFB65A3}"/>
              </a:ext>
            </a:extLst>
          </p:cNvPr>
          <p:cNvSpPr>
            <a:spLocks noGrp="1"/>
          </p:cNvSpPr>
          <p:nvPr/>
        </p:nvSpPr>
        <p:spPr>
          <a:xfrm>
            <a:off x="685800" y="1381125"/>
            <a:ext cx="10820400" cy="19050"/>
          </a:xfrm>
          <a:prstGeom prst="rect">
            <a:avLst/>
          </a:prstGeom>
          <a:solidFill>
            <a:srgbClr val="236192"/>
          </a:solidFill>
          <a:ln w="0">
            <a:solidFill>
              <a:srgbClr val="236192"/>
            </a:solidFill>
          </a:ln>
        </p:spPr>
        <p:txBody>
          <a:bodyPr/>
          <a:lstStyle/>
          <a:p>
            <a:endParaRPr lang="ja-JP" altLang="en-US"/>
          </a:p>
        </p:txBody>
      </p:sp>
      <p:sp>
        <p:nvSpPr>
          <p:cNvPr id="4" name="Rectangle 3">
            <a:extLst>
              <a:ext uri="{FF2B5EF4-FFF2-40B4-BE49-F238E27FC236}">
                <a16:creationId xmlns:a16="http://schemas.microsoft.com/office/drawing/2014/main" id="{3902842C-D44D-46C8-B077-151CC5C57081}"/>
              </a:ext>
            </a:extLst>
          </p:cNvPr>
          <p:cNvSpPr>
            <a:spLocks noGrp="1"/>
          </p:cNvSpPr>
          <p:nvPr/>
        </p:nvSpPr>
        <p:spPr>
          <a:xfrm>
            <a:off x="876300" y="2095500"/>
            <a:ext cx="666750" cy="523875"/>
          </a:xfrm>
          <a:prstGeom prst="rect">
            <a:avLst/>
          </a:prstGeom>
          <a:noFill/>
          <a:ln w="0">
            <a:noFill/>
          </a:ln>
        </p:spPr>
        <p:txBody>
          <a:bodyPr>
            <a:normAutofit/>
          </a:bodyPr>
          <a:lstStyle/>
          <a:p>
            <a:pPr algn="ctr">
              <a:defRPr sz="2625" b="1">
                <a:solidFill>
                  <a:srgbClr val="236192"/>
                </a:solidFill>
                <a:latin typeface="Bitstream Charter"/>
                <a:ea typeface="Bitstream Charter"/>
                <a:cs typeface="Bitstream Charter"/>
              </a:defRPr>
            </a:pPr>
            <a:r>
              <a:rPr sz="2625" b="1">
                <a:solidFill>
                  <a:srgbClr val="236192"/>
                </a:solidFill>
                <a:latin typeface="Bitstream Charter"/>
                <a:ea typeface="Bitstream Charter"/>
                <a:cs typeface="Bitstream Charter"/>
              </a:rPr>
              <a:t>1</a:t>
            </a:r>
          </a:p>
        </p:txBody>
      </p:sp>
      <p:sp>
        <p:nvSpPr>
          <p:cNvPr id="5" name="Rectangle 4">
            <a:extLst>
              <a:ext uri="{FF2B5EF4-FFF2-40B4-BE49-F238E27FC236}">
                <a16:creationId xmlns:a16="http://schemas.microsoft.com/office/drawing/2014/main" id="{90F02E3A-4ADE-43AF-91F4-C7A0167E3111}"/>
              </a:ext>
            </a:extLst>
          </p:cNvPr>
          <p:cNvSpPr>
            <a:spLocks noGrp="1"/>
          </p:cNvSpPr>
          <p:nvPr/>
        </p:nvSpPr>
        <p:spPr>
          <a:xfrm>
            <a:off x="495300" y="2905125"/>
            <a:ext cx="1428750" cy="285750"/>
          </a:xfrm>
          <a:prstGeom prst="rect">
            <a:avLst/>
          </a:prstGeom>
          <a:noFill/>
          <a:ln w="0">
            <a:noFill/>
          </a:ln>
        </p:spPr>
        <p:txBody>
          <a:bodyPr>
            <a:normAutofit fontScale="85000"/>
          </a:bodyPr>
          <a:lstStyle/>
          <a:p>
            <a:pPr algn="ctr">
              <a:defRPr sz="1500" b="1">
                <a:solidFill>
                  <a:srgbClr val="123047"/>
                </a:solidFill>
                <a:latin typeface="Bitstream Charter"/>
                <a:ea typeface="Bitstream Charter"/>
                <a:cs typeface="Bitstream Charter"/>
              </a:defRPr>
            </a:pPr>
            <a:r>
              <a:rPr sz="1500" b="1">
                <a:solidFill>
                  <a:srgbClr val="123047"/>
                </a:solidFill>
                <a:latin typeface="Bitstream Charter"/>
                <a:ea typeface="Bitstream Charter"/>
                <a:cs typeface="Bitstream Charter"/>
              </a:rPr>
              <a:t>Data quality</a:t>
            </a:r>
          </a:p>
        </p:txBody>
      </p:sp>
      <p:sp>
        <p:nvSpPr>
          <p:cNvPr id="6" name="Rectangle 5">
            <a:extLst>
              <a:ext uri="{FF2B5EF4-FFF2-40B4-BE49-F238E27FC236}">
                <a16:creationId xmlns:a16="http://schemas.microsoft.com/office/drawing/2014/main" id="{B8A1FF36-0D29-4C75-98BC-8CB42F5C531A}"/>
              </a:ext>
            </a:extLst>
          </p:cNvPr>
          <p:cNvSpPr>
            <a:spLocks noGrp="1"/>
          </p:cNvSpPr>
          <p:nvPr/>
        </p:nvSpPr>
        <p:spPr>
          <a:xfrm>
            <a:off x="323850" y="3333750"/>
            <a:ext cx="1809750" cy="1095375"/>
          </a:xfrm>
          <a:prstGeom prst="rect">
            <a:avLst/>
          </a:prstGeom>
          <a:noFill/>
          <a:ln w="0">
            <a:noFill/>
          </a:ln>
        </p:spPr>
        <p:txBody>
          <a:bodyPr>
            <a:normAutofit/>
          </a:bodyPr>
          <a:lstStyle/>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Removed CSV index</a:t>
            </a:r>
          </a:p>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Checked missing values</a:t>
            </a:r>
          </a:p>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Removed duplicate user IDs</a:t>
            </a:r>
          </a:p>
        </p:txBody>
      </p:sp>
      <p:sp>
        <p:nvSpPr>
          <p:cNvPr id="7" name="Rectangle 6">
            <a:extLst>
              <a:ext uri="{FF2B5EF4-FFF2-40B4-BE49-F238E27FC236}">
                <a16:creationId xmlns:a16="http://schemas.microsoft.com/office/drawing/2014/main" id="{069ACDE8-2EF1-4FC2-BF49-2023AE63A510}"/>
              </a:ext>
            </a:extLst>
          </p:cNvPr>
          <p:cNvSpPr>
            <a:spLocks noGrp="1"/>
          </p:cNvSpPr>
          <p:nvPr/>
        </p:nvSpPr>
        <p:spPr>
          <a:xfrm>
            <a:off x="3476625" y="2095500"/>
            <a:ext cx="666750" cy="523875"/>
          </a:xfrm>
          <a:prstGeom prst="rect">
            <a:avLst/>
          </a:prstGeom>
          <a:noFill/>
          <a:ln w="0">
            <a:noFill/>
          </a:ln>
        </p:spPr>
        <p:txBody>
          <a:bodyPr>
            <a:normAutofit/>
          </a:bodyPr>
          <a:lstStyle/>
          <a:p>
            <a:pPr algn="ctr">
              <a:defRPr sz="2625" b="1">
                <a:solidFill>
                  <a:srgbClr val="E5755B"/>
                </a:solidFill>
                <a:latin typeface="Bitstream Charter"/>
                <a:ea typeface="Bitstream Charter"/>
                <a:cs typeface="Bitstream Charter"/>
              </a:defRPr>
            </a:pPr>
            <a:r>
              <a:rPr sz="2625" b="1">
                <a:solidFill>
                  <a:srgbClr val="E5755B"/>
                </a:solidFill>
                <a:latin typeface="Bitstream Charter"/>
                <a:ea typeface="Bitstream Charter"/>
                <a:cs typeface="Bitstream Charter"/>
              </a:rPr>
              <a:t>2</a:t>
            </a:r>
          </a:p>
        </p:txBody>
      </p:sp>
      <p:sp>
        <p:nvSpPr>
          <p:cNvPr id="8" name="Rectangle 7">
            <a:extLst>
              <a:ext uri="{FF2B5EF4-FFF2-40B4-BE49-F238E27FC236}">
                <a16:creationId xmlns:a16="http://schemas.microsoft.com/office/drawing/2014/main" id="{0D2599C9-3517-4BFD-BAD8-0F90A75566BB}"/>
              </a:ext>
            </a:extLst>
          </p:cNvPr>
          <p:cNvSpPr>
            <a:spLocks noGrp="1"/>
          </p:cNvSpPr>
          <p:nvPr/>
        </p:nvSpPr>
        <p:spPr>
          <a:xfrm>
            <a:off x="3095625" y="2905125"/>
            <a:ext cx="1428750" cy="285750"/>
          </a:xfrm>
          <a:prstGeom prst="rect">
            <a:avLst/>
          </a:prstGeom>
          <a:noFill/>
          <a:ln w="0">
            <a:noFill/>
          </a:ln>
        </p:spPr>
        <p:txBody>
          <a:bodyPr>
            <a:normAutofit fontScale="85000"/>
          </a:bodyPr>
          <a:lstStyle/>
          <a:p>
            <a:pPr algn="ctr">
              <a:defRPr sz="1500" b="1">
                <a:solidFill>
                  <a:srgbClr val="123047"/>
                </a:solidFill>
                <a:latin typeface="Bitstream Charter"/>
                <a:ea typeface="Bitstream Charter"/>
                <a:cs typeface="Bitstream Charter"/>
              </a:defRPr>
            </a:pPr>
            <a:r>
              <a:rPr sz="1500" b="1">
                <a:solidFill>
                  <a:srgbClr val="123047"/>
                </a:solidFill>
                <a:latin typeface="Bitstream Charter"/>
                <a:ea typeface="Bitstream Charter"/>
                <a:cs typeface="Bitstream Charter"/>
              </a:rPr>
              <a:t>A/B test</a:t>
            </a:r>
          </a:p>
        </p:txBody>
      </p:sp>
      <p:sp>
        <p:nvSpPr>
          <p:cNvPr id="9" name="Rectangle 8">
            <a:extLst>
              <a:ext uri="{FF2B5EF4-FFF2-40B4-BE49-F238E27FC236}">
                <a16:creationId xmlns:a16="http://schemas.microsoft.com/office/drawing/2014/main" id="{95A5470E-F8B8-4E6F-BDF5-77BABC870831}"/>
              </a:ext>
            </a:extLst>
          </p:cNvPr>
          <p:cNvSpPr>
            <a:spLocks noGrp="1"/>
          </p:cNvSpPr>
          <p:nvPr/>
        </p:nvSpPr>
        <p:spPr>
          <a:xfrm>
            <a:off x="2924175" y="3333750"/>
            <a:ext cx="1809750" cy="1095375"/>
          </a:xfrm>
          <a:prstGeom prst="rect">
            <a:avLst/>
          </a:prstGeom>
          <a:noFill/>
          <a:ln w="0">
            <a:noFill/>
          </a:ln>
        </p:spPr>
        <p:txBody>
          <a:bodyPr>
            <a:normAutofit/>
          </a:bodyPr>
          <a:lstStyle/>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Calculated conversion rates</a:t>
            </a:r>
          </a:p>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Measured uplift</a:t>
            </a:r>
          </a:p>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Ran two-proportion z-test</a:t>
            </a:r>
          </a:p>
        </p:txBody>
      </p:sp>
      <p:sp>
        <p:nvSpPr>
          <p:cNvPr id="10" name="Rectangle 9">
            <a:extLst>
              <a:ext uri="{FF2B5EF4-FFF2-40B4-BE49-F238E27FC236}">
                <a16:creationId xmlns:a16="http://schemas.microsoft.com/office/drawing/2014/main" id="{45AAE21E-CFC5-4D7B-8699-8F20FE052476}"/>
              </a:ext>
            </a:extLst>
          </p:cNvPr>
          <p:cNvSpPr>
            <a:spLocks noGrp="1"/>
          </p:cNvSpPr>
          <p:nvPr/>
        </p:nvSpPr>
        <p:spPr>
          <a:xfrm>
            <a:off x="6076950" y="2095500"/>
            <a:ext cx="666750" cy="523875"/>
          </a:xfrm>
          <a:prstGeom prst="rect">
            <a:avLst/>
          </a:prstGeom>
          <a:noFill/>
          <a:ln w="0">
            <a:noFill/>
          </a:ln>
        </p:spPr>
        <p:txBody>
          <a:bodyPr>
            <a:normAutofit/>
          </a:bodyPr>
          <a:lstStyle/>
          <a:p>
            <a:pPr algn="ctr">
              <a:defRPr sz="2625" b="1">
                <a:solidFill>
                  <a:srgbClr val="236192"/>
                </a:solidFill>
                <a:latin typeface="Bitstream Charter"/>
                <a:ea typeface="Bitstream Charter"/>
                <a:cs typeface="Bitstream Charter"/>
              </a:defRPr>
            </a:pPr>
            <a:r>
              <a:rPr sz="2625" b="1">
                <a:solidFill>
                  <a:srgbClr val="236192"/>
                </a:solidFill>
                <a:latin typeface="Bitstream Charter"/>
                <a:ea typeface="Bitstream Charter"/>
                <a:cs typeface="Bitstream Charter"/>
              </a:rPr>
              <a:t>3</a:t>
            </a:r>
          </a:p>
        </p:txBody>
      </p:sp>
      <p:sp>
        <p:nvSpPr>
          <p:cNvPr id="11" name="Rectangle 10">
            <a:extLst>
              <a:ext uri="{FF2B5EF4-FFF2-40B4-BE49-F238E27FC236}">
                <a16:creationId xmlns:a16="http://schemas.microsoft.com/office/drawing/2014/main" id="{9FC8FB49-64B1-4C73-9606-71CE2A1F5767}"/>
              </a:ext>
            </a:extLst>
          </p:cNvPr>
          <p:cNvSpPr>
            <a:spLocks noGrp="1"/>
          </p:cNvSpPr>
          <p:nvPr/>
        </p:nvSpPr>
        <p:spPr>
          <a:xfrm>
            <a:off x="5695950" y="2905125"/>
            <a:ext cx="1428750" cy="285750"/>
          </a:xfrm>
          <a:prstGeom prst="rect">
            <a:avLst/>
          </a:prstGeom>
          <a:noFill/>
          <a:ln w="0">
            <a:noFill/>
          </a:ln>
        </p:spPr>
        <p:txBody>
          <a:bodyPr>
            <a:normAutofit fontScale="85000"/>
          </a:bodyPr>
          <a:lstStyle/>
          <a:p>
            <a:pPr algn="ctr">
              <a:defRPr sz="1500" b="1">
                <a:solidFill>
                  <a:srgbClr val="123047"/>
                </a:solidFill>
                <a:latin typeface="Bitstream Charter"/>
                <a:ea typeface="Bitstream Charter"/>
                <a:cs typeface="Bitstream Charter"/>
              </a:defRPr>
            </a:pPr>
            <a:r>
              <a:rPr sz="1500" b="1">
                <a:solidFill>
                  <a:srgbClr val="123047"/>
                </a:solidFill>
                <a:latin typeface="Bitstream Charter"/>
                <a:ea typeface="Bitstream Charter"/>
                <a:cs typeface="Bitstream Charter"/>
              </a:rPr>
              <a:t>Patterns</a:t>
            </a:r>
          </a:p>
        </p:txBody>
      </p:sp>
      <p:sp>
        <p:nvSpPr>
          <p:cNvPr id="12" name="Rectangle 11">
            <a:extLst>
              <a:ext uri="{FF2B5EF4-FFF2-40B4-BE49-F238E27FC236}">
                <a16:creationId xmlns:a16="http://schemas.microsoft.com/office/drawing/2014/main" id="{82F1AEC6-5B5E-4F5B-B9AD-EA0AE6F46453}"/>
              </a:ext>
            </a:extLst>
          </p:cNvPr>
          <p:cNvSpPr>
            <a:spLocks noGrp="1"/>
          </p:cNvSpPr>
          <p:nvPr/>
        </p:nvSpPr>
        <p:spPr>
          <a:xfrm>
            <a:off x="5524500" y="3333750"/>
            <a:ext cx="1809750" cy="1095375"/>
          </a:xfrm>
          <a:prstGeom prst="rect">
            <a:avLst/>
          </a:prstGeom>
          <a:noFill/>
          <a:ln w="0">
            <a:noFill/>
          </a:ln>
        </p:spPr>
        <p:txBody>
          <a:bodyPr>
            <a:normAutofit/>
          </a:bodyPr>
          <a:lstStyle/>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Reviewed day, hour</a:t>
            </a:r>
          </a:p>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and ad-exposure patterns</a:t>
            </a:r>
          </a:p>
        </p:txBody>
      </p:sp>
      <p:sp>
        <p:nvSpPr>
          <p:cNvPr id="13" name="Rectangle 12">
            <a:extLst>
              <a:ext uri="{FF2B5EF4-FFF2-40B4-BE49-F238E27FC236}">
                <a16:creationId xmlns:a16="http://schemas.microsoft.com/office/drawing/2014/main" id="{7CBF8914-4453-4E36-AC8D-9C2C982BEB67}"/>
              </a:ext>
            </a:extLst>
          </p:cNvPr>
          <p:cNvSpPr>
            <a:spLocks noGrp="1"/>
          </p:cNvSpPr>
          <p:nvPr/>
        </p:nvSpPr>
        <p:spPr>
          <a:xfrm>
            <a:off x="8677275" y="2095500"/>
            <a:ext cx="666750" cy="523875"/>
          </a:xfrm>
          <a:prstGeom prst="rect">
            <a:avLst/>
          </a:prstGeom>
          <a:noFill/>
          <a:ln w="0">
            <a:noFill/>
          </a:ln>
        </p:spPr>
        <p:txBody>
          <a:bodyPr>
            <a:normAutofit/>
          </a:bodyPr>
          <a:lstStyle/>
          <a:p>
            <a:pPr algn="ctr">
              <a:defRPr sz="2625" b="1">
                <a:solidFill>
                  <a:srgbClr val="236192"/>
                </a:solidFill>
                <a:latin typeface="Bitstream Charter"/>
                <a:ea typeface="Bitstream Charter"/>
                <a:cs typeface="Bitstream Charter"/>
              </a:defRPr>
            </a:pPr>
            <a:r>
              <a:rPr sz="2625" b="1">
                <a:solidFill>
                  <a:srgbClr val="236192"/>
                </a:solidFill>
                <a:latin typeface="Bitstream Charter"/>
                <a:ea typeface="Bitstream Charter"/>
                <a:cs typeface="Bitstream Charter"/>
              </a:rPr>
              <a:t>4</a:t>
            </a:r>
          </a:p>
        </p:txBody>
      </p:sp>
      <p:sp>
        <p:nvSpPr>
          <p:cNvPr id="14" name="Rectangle 13">
            <a:extLst>
              <a:ext uri="{FF2B5EF4-FFF2-40B4-BE49-F238E27FC236}">
                <a16:creationId xmlns:a16="http://schemas.microsoft.com/office/drawing/2014/main" id="{0F9B2D32-8EEC-4888-B4F2-B36415A74549}"/>
              </a:ext>
            </a:extLst>
          </p:cNvPr>
          <p:cNvSpPr>
            <a:spLocks noGrp="1"/>
          </p:cNvSpPr>
          <p:nvPr/>
        </p:nvSpPr>
        <p:spPr>
          <a:xfrm>
            <a:off x="8296275" y="2905125"/>
            <a:ext cx="1428750" cy="285750"/>
          </a:xfrm>
          <a:prstGeom prst="rect">
            <a:avLst/>
          </a:prstGeom>
          <a:noFill/>
          <a:ln w="0">
            <a:noFill/>
          </a:ln>
        </p:spPr>
        <p:txBody>
          <a:bodyPr>
            <a:normAutofit fontScale="85000"/>
          </a:bodyPr>
          <a:lstStyle/>
          <a:p>
            <a:pPr algn="ctr">
              <a:defRPr sz="1500" b="1">
                <a:solidFill>
                  <a:srgbClr val="123047"/>
                </a:solidFill>
                <a:latin typeface="Bitstream Charter"/>
                <a:ea typeface="Bitstream Charter"/>
                <a:cs typeface="Bitstream Charter"/>
              </a:defRPr>
            </a:pPr>
            <a:r>
              <a:rPr sz="1500" b="1">
                <a:solidFill>
                  <a:srgbClr val="123047"/>
                </a:solidFill>
                <a:latin typeface="Bitstream Charter"/>
                <a:ea typeface="Bitstream Charter"/>
                <a:cs typeface="Bitstream Charter"/>
              </a:rPr>
              <a:t>Prediction</a:t>
            </a:r>
          </a:p>
        </p:txBody>
      </p:sp>
      <p:sp>
        <p:nvSpPr>
          <p:cNvPr id="15" name="Rectangle 14">
            <a:extLst>
              <a:ext uri="{FF2B5EF4-FFF2-40B4-BE49-F238E27FC236}">
                <a16:creationId xmlns:a16="http://schemas.microsoft.com/office/drawing/2014/main" id="{C2BF3899-CD26-4FB2-BD7B-DEC589E296E2}"/>
              </a:ext>
            </a:extLst>
          </p:cNvPr>
          <p:cNvSpPr>
            <a:spLocks noGrp="1"/>
          </p:cNvSpPr>
          <p:nvPr/>
        </p:nvSpPr>
        <p:spPr>
          <a:xfrm>
            <a:off x="8124825" y="3333750"/>
            <a:ext cx="1809750" cy="1095375"/>
          </a:xfrm>
          <a:prstGeom prst="rect">
            <a:avLst/>
          </a:prstGeom>
          <a:noFill/>
          <a:ln w="0">
            <a:noFill/>
          </a:ln>
        </p:spPr>
        <p:txBody>
          <a:bodyPr>
            <a:normAutofit/>
          </a:bodyPr>
          <a:lstStyle/>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Trained Random Forest</a:t>
            </a:r>
          </a:p>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80/20 train-test split</a:t>
            </a:r>
          </a:p>
          <a:p>
            <a:pPr algn="ctr">
              <a:defRPr sz="1275" b="0">
                <a:solidFill>
                  <a:srgbClr val="17212B"/>
                </a:solidFill>
                <a:latin typeface="Bitstream Charter"/>
                <a:ea typeface="Bitstream Charter"/>
                <a:cs typeface="Bitstream Charter"/>
              </a:defRPr>
            </a:pPr>
            <a:r>
              <a:rPr sz="1275" b="0">
                <a:solidFill>
                  <a:srgbClr val="17212B"/>
                </a:solidFill>
                <a:latin typeface="Bitstream Charter"/>
                <a:ea typeface="Bitstream Charter"/>
                <a:cs typeface="Bitstream Charter"/>
              </a:rPr>
              <a:t>Reviewed ROC-AUC</a:t>
            </a:r>
          </a:p>
        </p:txBody>
      </p:sp>
      <p:sp>
        <p:nvSpPr>
          <p:cNvPr id="16" name="Rectangle 15">
            <a:extLst>
              <a:ext uri="{FF2B5EF4-FFF2-40B4-BE49-F238E27FC236}">
                <a16:creationId xmlns:a16="http://schemas.microsoft.com/office/drawing/2014/main" id="{BCF8A918-1EFD-4E74-80B1-153C440A8AAC}"/>
              </a:ext>
            </a:extLst>
          </p:cNvPr>
          <p:cNvSpPr>
            <a:spLocks noGrp="1"/>
          </p:cNvSpPr>
          <p:nvPr/>
        </p:nvSpPr>
        <p:spPr>
          <a:xfrm>
            <a:off x="1714500" y="5238750"/>
            <a:ext cx="8572500" cy="342900"/>
          </a:xfrm>
          <a:prstGeom prst="rect">
            <a:avLst/>
          </a:prstGeom>
          <a:noFill/>
          <a:ln w="0">
            <a:noFill/>
          </a:ln>
        </p:spPr>
        <p:txBody>
          <a:bodyPr>
            <a:normAutofit fontScale="86007"/>
          </a:bodyPr>
          <a:lstStyle/>
          <a:p>
            <a:pPr algn="ctr">
              <a:defRPr sz="1650" b="1">
                <a:solidFill>
                  <a:srgbClr val="0F8B8D"/>
                </a:solidFill>
                <a:latin typeface="Bitstream Charter"/>
                <a:ea typeface="Bitstream Charter"/>
                <a:cs typeface="Bitstream Charter"/>
              </a:defRPr>
            </a:pPr>
            <a:r>
              <a:rPr sz="1650" b="1">
                <a:solidFill>
                  <a:srgbClr val="0F8B8D"/>
                </a:solidFill>
                <a:latin typeface="Bitstream Charter"/>
                <a:ea typeface="Bitstream Charter"/>
                <a:cs typeface="Bitstream Charter"/>
              </a:rPr>
              <a:t>The analysis combines a statistically reliable group comparison with practical optimisation insights.</a:t>
            </a:r>
          </a:p>
        </p:txBody>
      </p:sp>
      <p:sp>
        <p:nvSpPr>
          <p:cNvPr id="17" name="Rectangle 16">
            <a:extLst>
              <a:ext uri="{FF2B5EF4-FFF2-40B4-BE49-F238E27FC236}">
                <a16:creationId xmlns:a16="http://schemas.microsoft.com/office/drawing/2014/main" id="{8A7A79DF-7726-4178-9B3D-A64BC7030E5C}"/>
              </a:ext>
            </a:extLst>
          </p:cNvPr>
          <p:cNvSpPr>
            <a:spLocks noGrp="1"/>
          </p:cNvSpPr>
          <p:nvPr/>
        </p:nvSpPr>
        <p:spPr>
          <a:xfrm>
            <a:off x="685800" y="6477000"/>
            <a:ext cx="3333750" cy="171450"/>
          </a:xfrm>
          <a:prstGeom prst="rect">
            <a:avLst/>
          </a:prstGeom>
          <a:noFill/>
          <a:ln w="0">
            <a:noFill/>
          </a:ln>
        </p:spPr>
        <p:txBody>
          <a:bodyPr>
            <a:normAutofit fontScale="77778"/>
          </a:bodyPr>
          <a:lstStyle/>
          <a:p>
            <a:pPr>
              <a:defRPr sz="675" b="0">
                <a:solidFill>
                  <a:srgbClr val="5A6975"/>
                </a:solidFill>
                <a:latin typeface="Bitstream Charter"/>
                <a:ea typeface="Bitstream Charter"/>
                <a:cs typeface="Bitstream Charter"/>
              </a:defRPr>
            </a:pPr>
            <a:r>
              <a:rPr sz="675" b="0">
                <a:solidFill>
                  <a:srgbClr val="5A6975"/>
                </a:solidFill>
                <a:latin typeface="Bitstream Charter"/>
                <a:ea typeface="Bitstream Charter"/>
                <a:cs typeface="Bitstream Charter"/>
              </a:rPr>
              <a:t>Campaign Measurement Case Study  |  4</a:t>
            </a:r>
          </a:p>
        </p:txBody>
      </p:sp>
    </p:spTree>
    <p:extLst>
      <p:ext uri="{BB962C8B-B14F-4D97-AF65-F5344CB8AC3E}">
        <p14:creationId xmlns:p14="http://schemas.microsoft.com/office/powerpoint/2010/main" val="207541230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981E478-D853-407E-9DD4-B9D9861DCB0C}"/>
              </a:ext>
            </a:extLst>
          </p:cNvPr>
          <p:cNvSpPr>
            <a:spLocks noGrp="1"/>
          </p:cNvSpPr>
          <p:nvPr/>
        </p:nvSpPr>
        <p:spPr>
          <a:xfrm>
            <a:off x="666750" y="438150"/>
            <a:ext cx="8477250" cy="523875"/>
          </a:xfrm>
          <a:prstGeom prst="rect">
            <a:avLst/>
          </a:prstGeom>
          <a:noFill/>
          <a:ln w="0">
            <a:noFill/>
          </a:ln>
        </p:spPr>
        <p:txBody>
          <a:bodyPr>
            <a:normAutofit/>
          </a:bodyPr>
          <a:lstStyle/>
          <a:p>
            <a:pPr>
              <a:defRPr sz="2250" b="1">
                <a:solidFill>
                  <a:srgbClr val="123047"/>
                </a:solidFill>
                <a:latin typeface="Bitstream Charter"/>
                <a:ea typeface="Bitstream Charter"/>
                <a:cs typeface="Bitstream Charter"/>
              </a:defRPr>
            </a:pPr>
            <a:r>
              <a:rPr sz="2250" b="1">
                <a:solidFill>
                  <a:srgbClr val="123047"/>
                </a:solidFill>
                <a:latin typeface="Bitstream Charter"/>
                <a:ea typeface="Bitstream Charter"/>
                <a:cs typeface="Bitstream Charter"/>
              </a:rPr>
              <a:t>Timing and exposure patterns</a:t>
            </a:r>
          </a:p>
        </p:txBody>
      </p:sp>
      <p:sp>
        <p:nvSpPr>
          <p:cNvPr id="2" name="Rectangle 1">
            <a:extLst>
              <a:ext uri="{FF2B5EF4-FFF2-40B4-BE49-F238E27FC236}">
                <a16:creationId xmlns:a16="http://schemas.microsoft.com/office/drawing/2014/main" id="{CECD2867-F2F6-430E-A76B-D345C5DE0C9A}"/>
              </a:ext>
            </a:extLst>
          </p:cNvPr>
          <p:cNvSpPr>
            <a:spLocks noGrp="1"/>
          </p:cNvSpPr>
          <p:nvPr/>
        </p:nvSpPr>
        <p:spPr>
          <a:xfrm>
            <a:off x="685800" y="1009650"/>
            <a:ext cx="8763000" cy="285750"/>
          </a:xfrm>
          <a:prstGeom prst="rect">
            <a:avLst/>
          </a:prstGeom>
          <a:noFill/>
          <a:ln w="0">
            <a:noFill/>
          </a:ln>
        </p:spPr>
        <p:txBody>
          <a:bodyPr>
            <a:normAutofit/>
          </a:bodyPr>
          <a:lstStyle/>
          <a:p>
            <a:pPr>
              <a:defRPr sz="1125" b="0">
                <a:solidFill>
                  <a:srgbClr val="5A6975"/>
                </a:solidFill>
                <a:latin typeface="Bitstream Charter"/>
                <a:ea typeface="Bitstream Charter"/>
                <a:cs typeface="Bitstream Charter"/>
              </a:defRPr>
            </a:pPr>
            <a:r>
              <a:rPr sz="1125" b="0">
                <a:solidFill>
                  <a:srgbClr val="5A6975"/>
                </a:solidFill>
                <a:latin typeface="Bitstream Charter"/>
                <a:ea typeface="Bitstream Charter"/>
                <a:cs typeface="Bitstream Charter"/>
              </a:rPr>
              <a:t>Useful signals for follow-up testing</a:t>
            </a:r>
          </a:p>
        </p:txBody>
      </p:sp>
      <p:sp>
        <p:nvSpPr>
          <p:cNvPr id="3" name="Rectangle 2">
            <a:extLst>
              <a:ext uri="{FF2B5EF4-FFF2-40B4-BE49-F238E27FC236}">
                <a16:creationId xmlns:a16="http://schemas.microsoft.com/office/drawing/2014/main" id="{58F64CFB-012C-4844-8BFF-ED66CA3B5962}"/>
              </a:ext>
            </a:extLst>
          </p:cNvPr>
          <p:cNvSpPr>
            <a:spLocks noGrp="1"/>
          </p:cNvSpPr>
          <p:nvPr/>
        </p:nvSpPr>
        <p:spPr>
          <a:xfrm>
            <a:off x="685800" y="1381125"/>
            <a:ext cx="10820400" cy="19050"/>
          </a:xfrm>
          <a:prstGeom prst="rect">
            <a:avLst/>
          </a:prstGeom>
          <a:solidFill>
            <a:srgbClr val="236192"/>
          </a:solidFill>
          <a:ln w="0">
            <a:solidFill>
              <a:srgbClr val="236192"/>
            </a:solidFill>
          </a:ln>
        </p:spPr>
        <p:txBody>
          <a:bodyPr/>
          <a:lstStyle/>
          <a:p>
            <a:endParaRPr lang="ja-JP" altLang="en-US"/>
          </a:p>
        </p:txBody>
      </p:sp>
      <p:sp>
        <p:nvSpPr>
          <p:cNvPr id="4" name="Rectangle 3">
            <a:extLst>
              <a:ext uri="{FF2B5EF4-FFF2-40B4-BE49-F238E27FC236}">
                <a16:creationId xmlns:a16="http://schemas.microsoft.com/office/drawing/2014/main" id="{4FC76F6B-C26C-4513-87F6-D5E4803A60DB}"/>
              </a:ext>
            </a:extLst>
          </p:cNvPr>
          <p:cNvSpPr>
            <a:spLocks noGrp="1"/>
          </p:cNvSpPr>
          <p:nvPr/>
        </p:nvSpPr>
        <p:spPr>
          <a:xfrm>
            <a:off x="685800" y="1809750"/>
            <a:ext cx="4000500" cy="323850"/>
          </a:xfrm>
          <a:prstGeom prst="rect">
            <a:avLst/>
          </a:prstGeom>
          <a:noFill/>
          <a:ln w="0">
            <a:noFill/>
          </a:ln>
        </p:spPr>
        <p:txBody>
          <a:bodyPr>
            <a:normAutofit fontScale="92424"/>
          </a:bodyPr>
          <a:lstStyle/>
          <a:p>
            <a:pPr>
              <a:defRPr sz="1650" b="1">
                <a:solidFill>
                  <a:srgbClr val="123047"/>
                </a:solidFill>
                <a:latin typeface="Bitstream Charter"/>
                <a:ea typeface="Bitstream Charter"/>
                <a:cs typeface="Bitstream Charter"/>
              </a:defRPr>
            </a:pPr>
            <a:r>
              <a:rPr sz="1650" b="1">
                <a:solidFill>
                  <a:srgbClr val="123047"/>
                </a:solidFill>
                <a:latin typeface="Bitstream Charter"/>
                <a:ea typeface="Bitstream Charter"/>
                <a:cs typeface="Bitstream Charter"/>
              </a:rPr>
              <a:t>When did conversion perform best?</a:t>
            </a:r>
          </a:p>
        </p:txBody>
      </p:sp>
      <p:sp>
        <p:nvSpPr>
          <p:cNvPr id="5" name="Rectangle 4">
            <a:extLst>
              <a:ext uri="{FF2B5EF4-FFF2-40B4-BE49-F238E27FC236}">
                <a16:creationId xmlns:a16="http://schemas.microsoft.com/office/drawing/2014/main" id="{B4A5DFF0-D748-4D2A-AF5C-EDF017D24F19}"/>
              </a:ext>
            </a:extLst>
          </p:cNvPr>
          <p:cNvSpPr>
            <a:spLocks noGrp="1"/>
          </p:cNvSpPr>
          <p:nvPr/>
        </p:nvSpPr>
        <p:spPr>
          <a:xfrm>
            <a:off x="952500" y="2524125"/>
            <a:ext cx="2571750" cy="523875"/>
          </a:xfrm>
          <a:prstGeom prst="rect">
            <a:avLst/>
          </a:prstGeom>
          <a:noFill/>
          <a:ln w="0">
            <a:noFill/>
          </a:ln>
        </p:spPr>
        <p:txBody>
          <a:bodyPr>
            <a:normAutofit/>
          </a:bodyPr>
          <a:lstStyle/>
          <a:p>
            <a:pPr algn="ctr">
              <a:defRPr sz="2775" b="1">
                <a:solidFill>
                  <a:srgbClr val="0F8B8D"/>
                </a:solidFill>
                <a:latin typeface="Bitstream Charter"/>
                <a:ea typeface="Bitstream Charter"/>
                <a:cs typeface="Bitstream Charter"/>
              </a:defRPr>
            </a:pPr>
            <a:r>
              <a:rPr sz="2775" b="1">
                <a:solidFill>
                  <a:srgbClr val="0F8B8D"/>
                </a:solidFill>
                <a:latin typeface="Bitstream Charter"/>
                <a:ea typeface="Bitstream Charter"/>
                <a:cs typeface="Bitstream Charter"/>
              </a:rPr>
              <a:t>~3.3%</a:t>
            </a:r>
          </a:p>
        </p:txBody>
      </p:sp>
      <p:sp>
        <p:nvSpPr>
          <p:cNvPr id="6" name="Rectangle 5">
            <a:extLst>
              <a:ext uri="{FF2B5EF4-FFF2-40B4-BE49-F238E27FC236}">
                <a16:creationId xmlns:a16="http://schemas.microsoft.com/office/drawing/2014/main" id="{4D1E04CC-BFD5-42B9-B01A-38A6BA6D58E1}"/>
              </a:ext>
            </a:extLst>
          </p:cNvPr>
          <p:cNvSpPr>
            <a:spLocks noGrp="1"/>
          </p:cNvSpPr>
          <p:nvPr/>
        </p:nvSpPr>
        <p:spPr>
          <a:xfrm>
            <a:off x="952500" y="309562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Monday conversion rate</a:t>
            </a:r>
          </a:p>
        </p:txBody>
      </p:sp>
      <p:sp>
        <p:nvSpPr>
          <p:cNvPr id="7" name="Rectangle 6">
            <a:extLst>
              <a:ext uri="{FF2B5EF4-FFF2-40B4-BE49-F238E27FC236}">
                <a16:creationId xmlns:a16="http://schemas.microsoft.com/office/drawing/2014/main" id="{3B9D3364-7EFF-45C2-82D7-8459D18B96C7}"/>
              </a:ext>
            </a:extLst>
          </p:cNvPr>
          <p:cNvSpPr>
            <a:spLocks noGrp="1"/>
          </p:cNvSpPr>
          <p:nvPr/>
        </p:nvSpPr>
        <p:spPr>
          <a:xfrm>
            <a:off x="4000500" y="2524125"/>
            <a:ext cx="2571750" cy="523875"/>
          </a:xfrm>
          <a:prstGeom prst="rect">
            <a:avLst/>
          </a:prstGeom>
          <a:noFill/>
          <a:ln w="0">
            <a:noFill/>
          </a:ln>
        </p:spPr>
        <p:txBody>
          <a:bodyPr>
            <a:normAutofit/>
          </a:bodyPr>
          <a:lstStyle/>
          <a:p>
            <a:pPr algn="ctr">
              <a:defRPr sz="2775" b="1">
                <a:solidFill>
                  <a:srgbClr val="E5755B"/>
                </a:solidFill>
                <a:latin typeface="Bitstream Charter"/>
                <a:ea typeface="Bitstream Charter"/>
                <a:cs typeface="Bitstream Charter"/>
              </a:defRPr>
            </a:pPr>
            <a:r>
              <a:rPr sz="2775" b="1">
                <a:solidFill>
                  <a:srgbClr val="E5755B"/>
                </a:solidFill>
                <a:latin typeface="Bitstream Charter"/>
                <a:ea typeface="Bitstream Charter"/>
                <a:cs typeface="Bitstream Charter"/>
              </a:rPr>
              <a:t>~3.0%</a:t>
            </a:r>
          </a:p>
        </p:txBody>
      </p:sp>
      <p:sp>
        <p:nvSpPr>
          <p:cNvPr id="8" name="Rectangle 7">
            <a:extLst>
              <a:ext uri="{FF2B5EF4-FFF2-40B4-BE49-F238E27FC236}">
                <a16:creationId xmlns:a16="http://schemas.microsoft.com/office/drawing/2014/main" id="{929812A4-E233-4D9F-B884-3C63FC498820}"/>
              </a:ext>
            </a:extLst>
          </p:cNvPr>
          <p:cNvSpPr>
            <a:spLocks noGrp="1"/>
          </p:cNvSpPr>
          <p:nvPr/>
        </p:nvSpPr>
        <p:spPr>
          <a:xfrm>
            <a:off x="4000500" y="309562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peak afternoon and evening periods</a:t>
            </a:r>
          </a:p>
        </p:txBody>
      </p:sp>
      <p:sp>
        <p:nvSpPr>
          <p:cNvPr id="9" name="Rectangle 8">
            <a:extLst>
              <a:ext uri="{FF2B5EF4-FFF2-40B4-BE49-F238E27FC236}">
                <a16:creationId xmlns:a16="http://schemas.microsoft.com/office/drawing/2014/main" id="{78CF78F9-4B8C-4AC4-97BA-630A01304739}"/>
              </a:ext>
            </a:extLst>
          </p:cNvPr>
          <p:cNvSpPr>
            <a:spLocks noGrp="1"/>
          </p:cNvSpPr>
          <p:nvPr/>
        </p:nvSpPr>
        <p:spPr>
          <a:xfrm>
            <a:off x="876300" y="3905250"/>
            <a:ext cx="4857750" cy="666750"/>
          </a:xfrm>
          <a:prstGeom prst="rect">
            <a:avLst/>
          </a:prstGeom>
          <a:noFill/>
          <a:ln w="0">
            <a:noFill/>
          </a:ln>
        </p:spPr>
        <p:txBody>
          <a:bodyPr>
            <a:normAutofit/>
          </a:bodyPr>
          <a:lstStyle/>
          <a:p>
            <a:pPr>
              <a:defRPr sz="1575" b="0">
                <a:solidFill>
                  <a:srgbClr val="17212B"/>
                </a:solidFill>
                <a:latin typeface="Bitstream Charter"/>
                <a:ea typeface="Bitstream Charter"/>
                <a:cs typeface="Bitstream Charter"/>
              </a:defRPr>
            </a:pPr>
            <a:r>
              <a:rPr sz="1575" b="0">
                <a:solidFill>
                  <a:srgbClr val="17212B"/>
                </a:solidFill>
                <a:latin typeface="Bitstream Charter"/>
                <a:ea typeface="Bitstream Charter"/>
                <a:cs typeface="Bitstream Charter"/>
              </a:rPr>
              <a:t>Conversion was strongest on Monday. It also increased around 2–4 pm and 8–9 pm.</a:t>
            </a:r>
          </a:p>
        </p:txBody>
      </p:sp>
      <p:sp>
        <p:nvSpPr>
          <p:cNvPr id="10" name="Rectangle 9">
            <a:extLst>
              <a:ext uri="{FF2B5EF4-FFF2-40B4-BE49-F238E27FC236}">
                <a16:creationId xmlns:a16="http://schemas.microsoft.com/office/drawing/2014/main" id="{27BB9222-BF5F-4B11-A1B3-4B01C1BFA98C}"/>
              </a:ext>
            </a:extLst>
          </p:cNvPr>
          <p:cNvSpPr>
            <a:spLocks noGrp="1"/>
          </p:cNvSpPr>
          <p:nvPr/>
        </p:nvSpPr>
        <p:spPr>
          <a:xfrm>
            <a:off x="6667500" y="1809750"/>
            <a:ext cx="4000500" cy="323850"/>
          </a:xfrm>
          <a:prstGeom prst="rect">
            <a:avLst/>
          </a:prstGeom>
          <a:noFill/>
          <a:ln w="0">
            <a:noFill/>
          </a:ln>
        </p:spPr>
        <p:txBody>
          <a:bodyPr>
            <a:normAutofit fontScale="92424"/>
          </a:bodyPr>
          <a:lstStyle/>
          <a:p>
            <a:pPr>
              <a:defRPr sz="1650" b="1">
                <a:solidFill>
                  <a:srgbClr val="123047"/>
                </a:solidFill>
                <a:latin typeface="Bitstream Charter"/>
                <a:ea typeface="Bitstream Charter"/>
                <a:cs typeface="Bitstream Charter"/>
              </a:defRPr>
            </a:pPr>
            <a:r>
              <a:rPr sz="1650" b="1">
                <a:solidFill>
                  <a:srgbClr val="123047"/>
                </a:solidFill>
                <a:latin typeface="Bitstream Charter"/>
                <a:ea typeface="Bitstream Charter"/>
                <a:cs typeface="Bitstream Charter"/>
              </a:rPr>
              <a:t>What did exposure show?</a:t>
            </a:r>
          </a:p>
        </p:txBody>
      </p:sp>
      <p:sp>
        <p:nvSpPr>
          <p:cNvPr id="11" name="Rectangle 10">
            <a:extLst>
              <a:ext uri="{FF2B5EF4-FFF2-40B4-BE49-F238E27FC236}">
                <a16:creationId xmlns:a16="http://schemas.microsoft.com/office/drawing/2014/main" id="{B992AB67-5662-4768-80AB-32892AFC82E2}"/>
              </a:ext>
            </a:extLst>
          </p:cNvPr>
          <p:cNvSpPr>
            <a:spLocks noGrp="1"/>
          </p:cNvSpPr>
          <p:nvPr/>
        </p:nvSpPr>
        <p:spPr>
          <a:xfrm>
            <a:off x="6667500" y="2428875"/>
            <a:ext cx="4191000" cy="1619250"/>
          </a:xfrm>
          <a:prstGeom prst="rect">
            <a:avLst/>
          </a:prstGeom>
          <a:noFill/>
          <a:ln w="0">
            <a:noFill/>
          </a:ln>
        </p:spPr>
        <p:txBody>
          <a:bodyPr>
            <a:normAutofit/>
          </a:bodyPr>
          <a:lstStyle/>
          <a:p>
            <a:pPr>
              <a:defRPr sz="1650" b="0">
                <a:solidFill>
                  <a:srgbClr val="17212B"/>
                </a:solidFill>
                <a:latin typeface="Bitstream Charter"/>
                <a:ea typeface="Bitstream Charter"/>
                <a:cs typeface="Bitstream Charter"/>
              </a:defRPr>
            </a:pPr>
            <a:r>
              <a:rPr sz="1650" b="0">
                <a:solidFill>
                  <a:srgbClr val="17212B"/>
                </a:solidFill>
                <a:latin typeface="Bitstream Charter"/>
                <a:ea typeface="Bitstream Charter"/>
                <a:cs typeface="Bitstream Charter"/>
              </a:rPr>
              <a:t>Users with higher advertising exposure had higher conversion rates. This may reflect engagement differences, so it should guide further testing rather than a direct increase in frequency.</a:t>
            </a:r>
          </a:p>
        </p:txBody>
      </p:sp>
      <p:sp>
        <p:nvSpPr>
          <p:cNvPr id="12" name="Rectangle 11">
            <a:extLst>
              <a:ext uri="{FF2B5EF4-FFF2-40B4-BE49-F238E27FC236}">
                <a16:creationId xmlns:a16="http://schemas.microsoft.com/office/drawing/2014/main" id="{D0E0695A-DDC3-41F1-9BBF-40813C8CC961}"/>
              </a:ext>
            </a:extLst>
          </p:cNvPr>
          <p:cNvSpPr>
            <a:spLocks noGrp="1"/>
          </p:cNvSpPr>
          <p:nvPr/>
        </p:nvSpPr>
        <p:spPr>
          <a:xfrm>
            <a:off x="6858000" y="4695825"/>
            <a:ext cx="2857500" cy="266700"/>
          </a:xfrm>
          <a:prstGeom prst="rect">
            <a:avLst/>
          </a:prstGeom>
          <a:noFill/>
          <a:ln w="0">
            <a:noFill/>
          </a:ln>
        </p:spPr>
        <p:txBody>
          <a:bodyPr>
            <a:normAutofit fontScale="85185"/>
          </a:bodyPr>
          <a:lstStyle/>
          <a:p>
            <a:pPr>
              <a:defRPr sz="1350" b="1">
                <a:solidFill>
                  <a:srgbClr val="0F8B8D"/>
                </a:solidFill>
                <a:latin typeface="Bitstream Charter"/>
                <a:ea typeface="Bitstream Charter"/>
                <a:cs typeface="Bitstream Charter"/>
              </a:defRPr>
            </a:pPr>
            <a:r>
              <a:rPr sz="1350" b="1">
                <a:solidFill>
                  <a:srgbClr val="0F8B8D"/>
                </a:solidFill>
                <a:latin typeface="Bitstream Charter"/>
                <a:ea typeface="Bitstream Charter"/>
                <a:cs typeface="Bitstream Charter"/>
              </a:rPr>
              <a:t>Possible next test</a:t>
            </a:r>
          </a:p>
        </p:txBody>
      </p:sp>
      <p:sp>
        <p:nvSpPr>
          <p:cNvPr id="13" name="Rectangle 12">
            <a:extLst>
              <a:ext uri="{FF2B5EF4-FFF2-40B4-BE49-F238E27FC236}">
                <a16:creationId xmlns:a16="http://schemas.microsoft.com/office/drawing/2014/main" id="{D329E188-2D10-4C49-B22D-56118B6A9A69}"/>
              </a:ext>
            </a:extLst>
          </p:cNvPr>
          <p:cNvSpPr>
            <a:spLocks noGrp="1"/>
          </p:cNvSpPr>
          <p:nvPr/>
        </p:nvSpPr>
        <p:spPr>
          <a:xfrm>
            <a:off x="6858000" y="5048250"/>
            <a:ext cx="3810000" cy="571500"/>
          </a:xfrm>
          <a:prstGeom prst="rect">
            <a:avLst/>
          </a:prstGeom>
          <a:noFill/>
          <a:ln w="0">
            <a:noFill/>
          </a:ln>
        </p:spPr>
        <p:txBody>
          <a:bodyPr>
            <a:normAutofit fontScale="86025"/>
          </a:bodyPr>
          <a:lstStyle/>
          <a:p>
            <a:pPr>
              <a:defRPr sz="1350" b="0">
                <a:solidFill>
                  <a:srgbClr val="17212B"/>
                </a:solidFill>
                <a:latin typeface="Bitstream Charter"/>
                <a:ea typeface="Bitstream Charter"/>
                <a:cs typeface="Bitstream Charter"/>
              </a:defRPr>
            </a:pPr>
            <a:r>
              <a:rPr sz="1350" b="0">
                <a:solidFill>
                  <a:srgbClr val="17212B"/>
                </a:solidFill>
                <a:latin typeface="Bitstream Charter"/>
                <a:ea typeface="Bitstream Charter"/>
                <a:cs typeface="Bitstream Charter"/>
              </a:rPr>
              <a:t>Compare timing and frequency strategies while controlling for audience quality and campaign objective.</a:t>
            </a:r>
          </a:p>
        </p:txBody>
      </p:sp>
      <p:sp>
        <p:nvSpPr>
          <p:cNvPr id="14" name="Rectangle 13">
            <a:extLst>
              <a:ext uri="{FF2B5EF4-FFF2-40B4-BE49-F238E27FC236}">
                <a16:creationId xmlns:a16="http://schemas.microsoft.com/office/drawing/2014/main" id="{3687CB00-D7FB-4FF0-B425-4A9943F162A4}"/>
              </a:ext>
            </a:extLst>
          </p:cNvPr>
          <p:cNvSpPr>
            <a:spLocks noGrp="1"/>
          </p:cNvSpPr>
          <p:nvPr/>
        </p:nvSpPr>
        <p:spPr>
          <a:xfrm>
            <a:off x="685800" y="6477000"/>
            <a:ext cx="3333750" cy="171450"/>
          </a:xfrm>
          <a:prstGeom prst="rect">
            <a:avLst/>
          </a:prstGeom>
          <a:noFill/>
          <a:ln w="0">
            <a:noFill/>
          </a:ln>
        </p:spPr>
        <p:txBody>
          <a:bodyPr>
            <a:normAutofit fontScale="77778"/>
          </a:bodyPr>
          <a:lstStyle/>
          <a:p>
            <a:pPr>
              <a:defRPr sz="675" b="0">
                <a:solidFill>
                  <a:srgbClr val="5A6975"/>
                </a:solidFill>
                <a:latin typeface="Bitstream Charter"/>
                <a:ea typeface="Bitstream Charter"/>
                <a:cs typeface="Bitstream Charter"/>
              </a:defRPr>
            </a:pPr>
            <a:r>
              <a:rPr sz="675" b="0">
                <a:solidFill>
                  <a:srgbClr val="5A6975"/>
                </a:solidFill>
                <a:latin typeface="Bitstream Charter"/>
                <a:ea typeface="Bitstream Charter"/>
                <a:cs typeface="Bitstream Charter"/>
              </a:rPr>
              <a:t>Campaign Measurement Case Study  |  5</a:t>
            </a:r>
          </a:p>
        </p:txBody>
      </p:sp>
    </p:spTree>
    <p:extLst>
      <p:ext uri="{BB962C8B-B14F-4D97-AF65-F5344CB8AC3E}">
        <p14:creationId xmlns:p14="http://schemas.microsoft.com/office/powerpoint/2010/main" val="174933368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5" name="Rectangle 14">
            <a:extLst>
              <a:ext uri="{FF2B5EF4-FFF2-40B4-BE49-F238E27FC236}">
                <a16:creationId xmlns:a16="http://schemas.microsoft.com/office/drawing/2014/main" id="{D9D33236-4527-406A-B960-BFDE2A506813}"/>
              </a:ext>
            </a:extLst>
          </p:cNvPr>
          <p:cNvSpPr>
            <a:spLocks noGrp="1"/>
          </p:cNvSpPr>
          <p:nvPr/>
        </p:nvSpPr>
        <p:spPr>
          <a:xfrm>
            <a:off x="666750" y="438150"/>
            <a:ext cx="8477250" cy="523875"/>
          </a:xfrm>
          <a:prstGeom prst="rect">
            <a:avLst/>
          </a:prstGeom>
          <a:noFill/>
          <a:ln w="0">
            <a:noFill/>
          </a:ln>
        </p:spPr>
        <p:txBody>
          <a:bodyPr>
            <a:normAutofit/>
          </a:bodyPr>
          <a:lstStyle/>
          <a:p>
            <a:pPr>
              <a:defRPr sz="2250" b="1">
                <a:solidFill>
                  <a:srgbClr val="123047"/>
                </a:solidFill>
                <a:latin typeface="Bitstream Charter"/>
                <a:ea typeface="Bitstream Charter"/>
                <a:cs typeface="Bitstream Charter"/>
              </a:defRPr>
            </a:pPr>
            <a:r>
              <a:rPr sz="2250" b="1">
                <a:solidFill>
                  <a:srgbClr val="123047"/>
                </a:solidFill>
                <a:latin typeface="Bitstream Charter"/>
                <a:ea typeface="Bitstream Charter"/>
                <a:cs typeface="Bitstream Charter"/>
              </a:rPr>
              <a:t>Predictive modelling</a:t>
            </a:r>
          </a:p>
        </p:txBody>
      </p:sp>
      <p:sp>
        <p:nvSpPr>
          <p:cNvPr id="2" name="Rectangle 1">
            <a:extLst>
              <a:ext uri="{FF2B5EF4-FFF2-40B4-BE49-F238E27FC236}">
                <a16:creationId xmlns:a16="http://schemas.microsoft.com/office/drawing/2014/main" id="{937AAADD-0C26-42DE-BC1D-43B0DD8B4890}"/>
              </a:ext>
            </a:extLst>
          </p:cNvPr>
          <p:cNvSpPr>
            <a:spLocks noGrp="1"/>
          </p:cNvSpPr>
          <p:nvPr/>
        </p:nvSpPr>
        <p:spPr>
          <a:xfrm>
            <a:off x="685800" y="1009650"/>
            <a:ext cx="8763000" cy="285750"/>
          </a:xfrm>
          <a:prstGeom prst="rect">
            <a:avLst/>
          </a:prstGeom>
          <a:noFill/>
          <a:ln w="0">
            <a:noFill/>
          </a:ln>
        </p:spPr>
        <p:txBody>
          <a:bodyPr>
            <a:normAutofit/>
          </a:bodyPr>
          <a:lstStyle/>
          <a:p>
            <a:pPr>
              <a:defRPr sz="1125" b="0">
                <a:solidFill>
                  <a:srgbClr val="5A6975"/>
                </a:solidFill>
                <a:latin typeface="Bitstream Charter"/>
                <a:ea typeface="Bitstream Charter"/>
                <a:cs typeface="Bitstream Charter"/>
              </a:defRPr>
            </a:pPr>
            <a:r>
              <a:rPr sz="1125" b="0">
                <a:solidFill>
                  <a:srgbClr val="5A6975"/>
                </a:solidFill>
                <a:latin typeface="Bitstream Charter"/>
                <a:ea typeface="Bitstream Charter"/>
                <a:cs typeface="Bitstream Charter"/>
              </a:rPr>
              <a:t>Ranking users with higher conversion potential</a:t>
            </a:r>
          </a:p>
        </p:txBody>
      </p:sp>
      <p:sp>
        <p:nvSpPr>
          <p:cNvPr id="3" name="Rectangle 2">
            <a:extLst>
              <a:ext uri="{FF2B5EF4-FFF2-40B4-BE49-F238E27FC236}">
                <a16:creationId xmlns:a16="http://schemas.microsoft.com/office/drawing/2014/main" id="{B7F2D6A7-6F35-456C-B957-A6462868A509}"/>
              </a:ext>
            </a:extLst>
          </p:cNvPr>
          <p:cNvSpPr>
            <a:spLocks noGrp="1"/>
          </p:cNvSpPr>
          <p:nvPr/>
        </p:nvSpPr>
        <p:spPr>
          <a:xfrm>
            <a:off x="685800" y="1381125"/>
            <a:ext cx="10820400" cy="19050"/>
          </a:xfrm>
          <a:prstGeom prst="rect">
            <a:avLst/>
          </a:prstGeom>
          <a:solidFill>
            <a:srgbClr val="236192"/>
          </a:solidFill>
          <a:ln w="0">
            <a:solidFill>
              <a:srgbClr val="236192"/>
            </a:solidFill>
          </a:ln>
        </p:spPr>
        <p:txBody>
          <a:bodyPr/>
          <a:lstStyle/>
          <a:p>
            <a:endParaRPr lang="ja-JP" altLang="en-US"/>
          </a:p>
        </p:txBody>
      </p:sp>
      <p:sp>
        <p:nvSpPr>
          <p:cNvPr id="4" name="Rectangle 3">
            <a:extLst>
              <a:ext uri="{FF2B5EF4-FFF2-40B4-BE49-F238E27FC236}">
                <a16:creationId xmlns:a16="http://schemas.microsoft.com/office/drawing/2014/main" id="{3CA0E4AD-3BB6-4FAB-BC56-FA4E13075A6F}"/>
              </a:ext>
            </a:extLst>
          </p:cNvPr>
          <p:cNvSpPr>
            <a:spLocks noGrp="1"/>
          </p:cNvSpPr>
          <p:nvPr/>
        </p:nvSpPr>
        <p:spPr>
          <a:xfrm>
            <a:off x="1066800" y="2047875"/>
            <a:ext cx="2571750" cy="523875"/>
          </a:xfrm>
          <a:prstGeom prst="rect">
            <a:avLst/>
          </a:prstGeom>
          <a:noFill/>
          <a:ln w="0">
            <a:noFill/>
          </a:ln>
        </p:spPr>
        <p:txBody>
          <a:bodyPr>
            <a:normAutofit/>
          </a:bodyPr>
          <a:lstStyle/>
          <a:p>
            <a:pPr algn="ctr">
              <a:defRPr sz="2775" b="1">
                <a:solidFill>
                  <a:srgbClr val="236192"/>
                </a:solidFill>
                <a:latin typeface="Bitstream Charter"/>
                <a:ea typeface="Bitstream Charter"/>
                <a:cs typeface="Bitstream Charter"/>
              </a:defRPr>
            </a:pPr>
            <a:r>
              <a:rPr sz="2775" b="1">
                <a:solidFill>
                  <a:srgbClr val="236192"/>
                </a:solidFill>
                <a:latin typeface="Bitstream Charter"/>
                <a:ea typeface="Bitstream Charter"/>
                <a:cs typeface="Bitstream Charter"/>
              </a:rPr>
              <a:t>0.855</a:t>
            </a:r>
          </a:p>
        </p:txBody>
      </p:sp>
      <p:sp>
        <p:nvSpPr>
          <p:cNvPr id="5" name="Rectangle 4">
            <a:extLst>
              <a:ext uri="{FF2B5EF4-FFF2-40B4-BE49-F238E27FC236}">
                <a16:creationId xmlns:a16="http://schemas.microsoft.com/office/drawing/2014/main" id="{243DBD2C-9135-4357-BB0C-1042A590DC89}"/>
              </a:ext>
            </a:extLst>
          </p:cNvPr>
          <p:cNvSpPr>
            <a:spLocks noGrp="1"/>
          </p:cNvSpPr>
          <p:nvPr/>
        </p:nvSpPr>
        <p:spPr>
          <a:xfrm>
            <a:off x="1066800" y="261937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ROC-AUC</a:t>
            </a:r>
          </a:p>
        </p:txBody>
      </p:sp>
      <p:sp>
        <p:nvSpPr>
          <p:cNvPr id="6" name="Rectangle 5">
            <a:extLst>
              <a:ext uri="{FF2B5EF4-FFF2-40B4-BE49-F238E27FC236}">
                <a16:creationId xmlns:a16="http://schemas.microsoft.com/office/drawing/2014/main" id="{AB0B788D-8CAA-42DE-B30C-F0228EA5B12D}"/>
              </a:ext>
            </a:extLst>
          </p:cNvPr>
          <p:cNvSpPr>
            <a:spLocks noGrp="1"/>
          </p:cNvSpPr>
          <p:nvPr/>
        </p:nvSpPr>
        <p:spPr>
          <a:xfrm>
            <a:off x="4000500" y="2047875"/>
            <a:ext cx="2571750" cy="523875"/>
          </a:xfrm>
          <a:prstGeom prst="rect">
            <a:avLst/>
          </a:prstGeom>
          <a:noFill/>
          <a:ln w="0">
            <a:noFill/>
          </a:ln>
        </p:spPr>
        <p:txBody>
          <a:bodyPr>
            <a:normAutofit/>
          </a:bodyPr>
          <a:lstStyle/>
          <a:p>
            <a:pPr algn="ctr">
              <a:defRPr sz="2775" b="1">
                <a:solidFill>
                  <a:srgbClr val="0F8B8D"/>
                </a:solidFill>
                <a:latin typeface="Bitstream Charter"/>
                <a:ea typeface="Bitstream Charter"/>
                <a:cs typeface="Bitstream Charter"/>
              </a:defRPr>
            </a:pPr>
            <a:r>
              <a:rPr sz="2775" b="1">
                <a:solidFill>
                  <a:srgbClr val="0F8B8D"/>
                </a:solidFill>
                <a:latin typeface="Bitstream Charter"/>
                <a:ea typeface="Bitstream Charter"/>
                <a:cs typeface="Bitstream Charter"/>
              </a:rPr>
              <a:t>80 / 20</a:t>
            </a:r>
          </a:p>
        </p:txBody>
      </p:sp>
      <p:sp>
        <p:nvSpPr>
          <p:cNvPr id="7" name="Rectangle 6">
            <a:extLst>
              <a:ext uri="{FF2B5EF4-FFF2-40B4-BE49-F238E27FC236}">
                <a16:creationId xmlns:a16="http://schemas.microsoft.com/office/drawing/2014/main" id="{64A25865-AA4F-48C9-821A-0BF438F6FE74}"/>
              </a:ext>
            </a:extLst>
          </p:cNvPr>
          <p:cNvSpPr>
            <a:spLocks noGrp="1"/>
          </p:cNvSpPr>
          <p:nvPr/>
        </p:nvSpPr>
        <p:spPr>
          <a:xfrm>
            <a:off x="4000500" y="261937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train-test split</a:t>
            </a:r>
          </a:p>
        </p:txBody>
      </p:sp>
      <p:sp>
        <p:nvSpPr>
          <p:cNvPr id="8" name="Rectangle 7">
            <a:extLst>
              <a:ext uri="{FF2B5EF4-FFF2-40B4-BE49-F238E27FC236}">
                <a16:creationId xmlns:a16="http://schemas.microsoft.com/office/drawing/2014/main" id="{61D328C3-E818-44CA-B5E9-78F021F040DF}"/>
              </a:ext>
            </a:extLst>
          </p:cNvPr>
          <p:cNvSpPr>
            <a:spLocks noGrp="1"/>
          </p:cNvSpPr>
          <p:nvPr/>
        </p:nvSpPr>
        <p:spPr>
          <a:xfrm>
            <a:off x="6934200" y="2047875"/>
            <a:ext cx="2571750" cy="523875"/>
          </a:xfrm>
          <a:prstGeom prst="rect">
            <a:avLst/>
          </a:prstGeom>
          <a:noFill/>
          <a:ln w="0">
            <a:noFill/>
          </a:ln>
        </p:spPr>
        <p:txBody>
          <a:bodyPr>
            <a:normAutofit/>
          </a:bodyPr>
          <a:lstStyle/>
          <a:p>
            <a:pPr algn="ctr">
              <a:defRPr sz="2775" b="1">
                <a:solidFill>
                  <a:srgbClr val="E5755B"/>
                </a:solidFill>
                <a:latin typeface="Bitstream Charter"/>
                <a:ea typeface="Bitstream Charter"/>
                <a:cs typeface="Bitstream Charter"/>
              </a:defRPr>
            </a:pPr>
            <a:r>
              <a:rPr sz="2775" b="1">
                <a:solidFill>
                  <a:srgbClr val="E5755B"/>
                </a:solidFill>
                <a:latin typeface="Bitstream Charter"/>
                <a:ea typeface="Bitstream Charter"/>
                <a:cs typeface="Bitstream Charter"/>
              </a:rPr>
              <a:t>Rare outcome</a:t>
            </a:r>
          </a:p>
        </p:txBody>
      </p:sp>
      <p:sp>
        <p:nvSpPr>
          <p:cNvPr id="9" name="Rectangle 8">
            <a:extLst>
              <a:ext uri="{FF2B5EF4-FFF2-40B4-BE49-F238E27FC236}">
                <a16:creationId xmlns:a16="http://schemas.microsoft.com/office/drawing/2014/main" id="{32A17C73-778F-4736-AF55-6B12E51F2836}"/>
              </a:ext>
            </a:extLst>
          </p:cNvPr>
          <p:cNvSpPr>
            <a:spLocks noGrp="1"/>
          </p:cNvSpPr>
          <p:nvPr/>
        </p:nvSpPr>
        <p:spPr>
          <a:xfrm>
            <a:off x="6934200" y="2619375"/>
            <a:ext cx="2571750" cy="247650"/>
          </a:xfrm>
          <a:prstGeom prst="rect">
            <a:avLst/>
          </a:prstGeom>
          <a:noFill/>
          <a:ln w="0">
            <a:noFill/>
          </a:ln>
        </p:spPr>
        <p:txBody>
          <a:bodyPr>
            <a:normAutofit fontScale="97619"/>
          </a:bodyPr>
          <a:lstStyle/>
          <a:p>
            <a:pPr algn="ctr">
              <a:defRPr sz="1050" b="0">
                <a:solidFill>
                  <a:srgbClr val="5A6975"/>
                </a:solidFill>
                <a:latin typeface="Bitstream Charter"/>
                <a:ea typeface="Bitstream Charter"/>
                <a:cs typeface="Bitstream Charter"/>
              </a:defRPr>
            </a:pPr>
            <a:r>
              <a:rPr sz="1050" b="0">
                <a:solidFill>
                  <a:srgbClr val="5A6975"/>
                </a:solidFill>
                <a:latin typeface="Bitstream Charter"/>
                <a:ea typeface="Bitstream Charter"/>
                <a:cs typeface="Bitstream Charter"/>
              </a:rPr>
              <a:t>conversion challenge</a:t>
            </a:r>
          </a:p>
        </p:txBody>
      </p:sp>
      <p:sp>
        <p:nvSpPr>
          <p:cNvPr id="10" name="Rectangle 9">
            <a:extLst>
              <a:ext uri="{FF2B5EF4-FFF2-40B4-BE49-F238E27FC236}">
                <a16:creationId xmlns:a16="http://schemas.microsoft.com/office/drawing/2014/main" id="{E7A703F7-8E3A-4889-8DAC-DC114F687FD6}"/>
              </a:ext>
            </a:extLst>
          </p:cNvPr>
          <p:cNvSpPr>
            <a:spLocks noGrp="1"/>
          </p:cNvSpPr>
          <p:nvPr/>
        </p:nvSpPr>
        <p:spPr>
          <a:xfrm>
            <a:off x="762000" y="3810000"/>
            <a:ext cx="3429000" cy="285750"/>
          </a:xfrm>
          <a:prstGeom prst="rect">
            <a:avLst/>
          </a:prstGeom>
          <a:noFill/>
          <a:ln w="0">
            <a:noFill/>
          </a:ln>
        </p:spPr>
        <p:txBody>
          <a:bodyPr>
            <a:normAutofit fontScale="80952"/>
          </a:bodyPr>
          <a:lstStyle/>
          <a:p>
            <a:pPr>
              <a:defRPr sz="1575" b="1">
                <a:solidFill>
                  <a:srgbClr val="123047"/>
                </a:solidFill>
                <a:latin typeface="Bitstream Charter"/>
                <a:ea typeface="Bitstream Charter"/>
                <a:cs typeface="Bitstream Charter"/>
              </a:defRPr>
            </a:pPr>
            <a:r>
              <a:rPr sz="1575" b="1">
                <a:solidFill>
                  <a:srgbClr val="123047"/>
                </a:solidFill>
                <a:latin typeface="Bitstream Charter"/>
                <a:ea typeface="Bitstream Charter"/>
                <a:cs typeface="Bitstream Charter"/>
              </a:rPr>
              <a:t>What the model can support</a:t>
            </a:r>
          </a:p>
        </p:txBody>
      </p:sp>
      <p:sp>
        <p:nvSpPr>
          <p:cNvPr id="11" name="Rectangle 10">
            <a:extLst>
              <a:ext uri="{FF2B5EF4-FFF2-40B4-BE49-F238E27FC236}">
                <a16:creationId xmlns:a16="http://schemas.microsoft.com/office/drawing/2014/main" id="{2EAAD71B-35E1-40F0-9594-34379D44FEA8}"/>
              </a:ext>
            </a:extLst>
          </p:cNvPr>
          <p:cNvSpPr>
            <a:spLocks noGrp="1"/>
          </p:cNvSpPr>
          <p:nvPr/>
        </p:nvSpPr>
        <p:spPr>
          <a:xfrm>
            <a:off x="762000" y="4238625"/>
            <a:ext cx="3762375" cy="857250"/>
          </a:xfrm>
          <a:prstGeom prst="rect">
            <a:avLst/>
          </a:prstGeom>
          <a:noFill/>
          <a:ln w="0">
            <a:noFill/>
          </a:ln>
        </p:spPr>
        <p:txBody>
          <a:bodyPr>
            <a:normAutofit/>
          </a:bodyPr>
          <a:lstStyle/>
          <a:p>
            <a:pPr>
              <a:defRPr sz="1500" b="0">
                <a:solidFill>
                  <a:srgbClr val="17212B"/>
                </a:solidFill>
                <a:latin typeface="Bitstream Charter"/>
                <a:ea typeface="Bitstream Charter"/>
                <a:cs typeface="Bitstream Charter"/>
              </a:defRPr>
            </a:pPr>
            <a:r>
              <a:rPr sz="1500" b="0">
                <a:solidFill>
                  <a:srgbClr val="17212B"/>
                </a:solidFill>
                <a:latin typeface="Bitstream Charter"/>
                <a:ea typeface="Bitstream Charter"/>
                <a:cs typeface="Bitstream Charter"/>
              </a:rPr>
              <a:t>Prioritise audiences with higher conversion potential when campaign budget or contact capacity is limited.</a:t>
            </a:r>
          </a:p>
        </p:txBody>
      </p:sp>
      <p:sp>
        <p:nvSpPr>
          <p:cNvPr id="12" name="Rectangle 11">
            <a:extLst>
              <a:ext uri="{FF2B5EF4-FFF2-40B4-BE49-F238E27FC236}">
                <a16:creationId xmlns:a16="http://schemas.microsoft.com/office/drawing/2014/main" id="{15F7FD81-F179-4022-B8A5-C42EEE9BAEFC}"/>
              </a:ext>
            </a:extLst>
          </p:cNvPr>
          <p:cNvSpPr>
            <a:spLocks noGrp="1"/>
          </p:cNvSpPr>
          <p:nvPr/>
        </p:nvSpPr>
        <p:spPr>
          <a:xfrm>
            <a:off x="6572250" y="3810000"/>
            <a:ext cx="3524250" cy="285750"/>
          </a:xfrm>
          <a:prstGeom prst="rect">
            <a:avLst/>
          </a:prstGeom>
          <a:noFill/>
          <a:ln w="0">
            <a:noFill/>
          </a:ln>
        </p:spPr>
        <p:txBody>
          <a:bodyPr>
            <a:normAutofit fontScale="80952"/>
          </a:bodyPr>
          <a:lstStyle/>
          <a:p>
            <a:pPr>
              <a:defRPr sz="1575" b="1">
                <a:solidFill>
                  <a:srgbClr val="123047"/>
                </a:solidFill>
                <a:latin typeface="Bitstream Charter"/>
                <a:ea typeface="Bitstream Charter"/>
                <a:cs typeface="Bitstream Charter"/>
              </a:defRPr>
            </a:pPr>
            <a:r>
              <a:rPr sz="1575" b="1">
                <a:solidFill>
                  <a:srgbClr val="123047"/>
                </a:solidFill>
                <a:latin typeface="Bitstream Charter"/>
                <a:ea typeface="Bitstream Charter"/>
                <a:cs typeface="Bitstream Charter"/>
              </a:rPr>
              <a:t>How to use it responsibly</a:t>
            </a:r>
          </a:p>
        </p:txBody>
      </p:sp>
      <p:sp>
        <p:nvSpPr>
          <p:cNvPr id="13" name="Rectangle 12">
            <a:extLst>
              <a:ext uri="{FF2B5EF4-FFF2-40B4-BE49-F238E27FC236}">
                <a16:creationId xmlns:a16="http://schemas.microsoft.com/office/drawing/2014/main" id="{4331CF29-F857-477F-B1E2-CE1A55FECD1B}"/>
              </a:ext>
            </a:extLst>
          </p:cNvPr>
          <p:cNvSpPr>
            <a:spLocks noGrp="1"/>
          </p:cNvSpPr>
          <p:nvPr/>
        </p:nvSpPr>
        <p:spPr>
          <a:xfrm>
            <a:off x="6572250" y="4238625"/>
            <a:ext cx="3857625" cy="952500"/>
          </a:xfrm>
          <a:prstGeom prst="rect">
            <a:avLst/>
          </a:prstGeom>
          <a:noFill/>
          <a:ln w="0">
            <a:noFill/>
          </a:ln>
        </p:spPr>
        <p:txBody>
          <a:bodyPr>
            <a:normAutofit fontScale="94167"/>
          </a:bodyPr>
          <a:lstStyle/>
          <a:p>
            <a:pPr>
              <a:defRPr sz="1500" b="0">
                <a:solidFill>
                  <a:srgbClr val="17212B"/>
                </a:solidFill>
                <a:latin typeface="Bitstream Charter"/>
                <a:ea typeface="Bitstream Charter"/>
                <a:cs typeface="Bitstream Charter"/>
              </a:defRPr>
            </a:pPr>
            <a:r>
              <a:rPr sz="1500" b="0">
                <a:solidFill>
                  <a:srgbClr val="17212B"/>
                </a:solidFill>
                <a:latin typeface="Bitstream Charter"/>
                <a:ea typeface="Bitstream Charter"/>
                <a:cs typeface="Bitstream Charter"/>
              </a:rPr>
              <a:t>Use the score for ranking or prioritisation. Set thresholds with business stakeholders and review precision, recall and fairness before operational use.</a:t>
            </a:r>
          </a:p>
        </p:txBody>
      </p:sp>
      <p:sp>
        <p:nvSpPr>
          <p:cNvPr id="14" name="Rectangle 13">
            <a:extLst>
              <a:ext uri="{FF2B5EF4-FFF2-40B4-BE49-F238E27FC236}">
                <a16:creationId xmlns:a16="http://schemas.microsoft.com/office/drawing/2014/main" id="{DE664FF2-38E1-4202-8BA3-42F285EA4DB3}"/>
              </a:ext>
            </a:extLst>
          </p:cNvPr>
          <p:cNvSpPr>
            <a:spLocks noGrp="1"/>
          </p:cNvSpPr>
          <p:nvPr/>
        </p:nvSpPr>
        <p:spPr>
          <a:xfrm>
            <a:off x="685800" y="6477000"/>
            <a:ext cx="3333750" cy="171450"/>
          </a:xfrm>
          <a:prstGeom prst="rect">
            <a:avLst/>
          </a:prstGeom>
          <a:noFill/>
          <a:ln w="0">
            <a:noFill/>
          </a:ln>
        </p:spPr>
        <p:txBody>
          <a:bodyPr>
            <a:normAutofit fontScale="77778"/>
          </a:bodyPr>
          <a:lstStyle/>
          <a:p>
            <a:pPr>
              <a:defRPr sz="675" b="0">
                <a:solidFill>
                  <a:srgbClr val="5A6975"/>
                </a:solidFill>
                <a:latin typeface="Bitstream Charter"/>
                <a:ea typeface="Bitstream Charter"/>
                <a:cs typeface="Bitstream Charter"/>
              </a:defRPr>
            </a:pPr>
            <a:r>
              <a:rPr sz="675" b="0">
                <a:solidFill>
                  <a:srgbClr val="5A6975"/>
                </a:solidFill>
                <a:latin typeface="Bitstream Charter"/>
                <a:ea typeface="Bitstream Charter"/>
                <a:cs typeface="Bitstream Charter"/>
              </a:rPr>
              <a:t>Campaign Measurement Case Study  |  6</a:t>
            </a:r>
          </a:p>
        </p:txBody>
      </p:sp>
    </p:spTree>
    <p:extLst>
      <p:ext uri="{BB962C8B-B14F-4D97-AF65-F5344CB8AC3E}">
        <p14:creationId xmlns:p14="http://schemas.microsoft.com/office/powerpoint/2010/main" val="97702971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1F6F7"/>
        </a:solidFill>
        <a:effectLst/>
      </p:bgPr>
    </p:bg>
    <p:spTree>
      <p:nvGrpSpPr>
        <p:cNvPr id="1" name=""/>
        <p:cNvGrpSpPr/>
        <p:nvPr/>
      </p:nvGrpSpPr>
      <p:grpSpPr>
        <a:xfrm>
          <a:off x="0" y="0"/>
          <a:ext cx="0" cy="0"/>
          <a:chOff x="0" y="0"/>
          <a:chExt cx="0" cy="0"/>
        </a:xfrm>
      </p:grpSpPr>
      <p:sp>
        <p:nvSpPr>
          <p:cNvPr id="17" name="Rectangle 16">
            <a:extLst>
              <a:ext uri="{FF2B5EF4-FFF2-40B4-BE49-F238E27FC236}">
                <a16:creationId xmlns:a16="http://schemas.microsoft.com/office/drawing/2014/main" id="{01DCE69D-BA5E-4F3C-97DA-F3047CD694A1}"/>
              </a:ext>
            </a:extLst>
          </p:cNvPr>
          <p:cNvSpPr>
            <a:spLocks noGrp="1"/>
          </p:cNvSpPr>
          <p:nvPr/>
        </p:nvSpPr>
        <p:spPr>
          <a:xfrm>
            <a:off x="666750" y="438150"/>
            <a:ext cx="8477250" cy="523875"/>
          </a:xfrm>
          <a:prstGeom prst="rect">
            <a:avLst/>
          </a:prstGeom>
          <a:noFill/>
          <a:ln w="0">
            <a:noFill/>
          </a:ln>
        </p:spPr>
        <p:txBody>
          <a:bodyPr>
            <a:normAutofit/>
          </a:bodyPr>
          <a:lstStyle/>
          <a:p>
            <a:pPr>
              <a:defRPr sz="2250" b="1">
                <a:solidFill>
                  <a:srgbClr val="123047"/>
                </a:solidFill>
                <a:latin typeface="Bitstream Charter"/>
                <a:ea typeface="Bitstream Charter"/>
                <a:cs typeface="Bitstream Charter"/>
              </a:defRPr>
            </a:pPr>
            <a:r>
              <a:rPr sz="2250" b="1">
                <a:solidFill>
                  <a:srgbClr val="123047"/>
                </a:solidFill>
                <a:latin typeface="Bitstream Charter"/>
                <a:ea typeface="Bitstream Charter"/>
                <a:cs typeface="Bitstream Charter"/>
              </a:rPr>
              <a:t>Conclusion and recommendations</a:t>
            </a:r>
          </a:p>
        </p:txBody>
      </p:sp>
      <p:sp>
        <p:nvSpPr>
          <p:cNvPr id="2" name="Rectangle 1">
            <a:extLst>
              <a:ext uri="{FF2B5EF4-FFF2-40B4-BE49-F238E27FC236}">
                <a16:creationId xmlns:a16="http://schemas.microsoft.com/office/drawing/2014/main" id="{1F38F020-BFA3-4B4D-A05C-85D1C4A20A91}"/>
              </a:ext>
            </a:extLst>
          </p:cNvPr>
          <p:cNvSpPr>
            <a:spLocks noGrp="1"/>
          </p:cNvSpPr>
          <p:nvPr/>
        </p:nvSpPr>
        <p:spPr>
          <a:xfrm>
            <a:off x="685800" y="1009650"/>
            <a:ext cx="8763000" cy="285750"/>
          </a:xfrm>
          <a:prstGeom prst="rect">
            <a:avLst/>
          </a:prstGeom>
          <a:noFill/>
          <a:ln w="0">
            <a:noFill/>
          </a:ln>
        </p:spPr>
        <p:txBody>
          <a:bodyPr>
            <a:normAutofit/>
          </a:bodyPr>
          <a:lstStyle/>
          <a:p>
            <a:pPr>
              <a:defRPr sz="1125" b="0">
                <a:solidFill>
                  <a:srgbClr val="5A6975"/>
                </a:solidFill>
                <a:latin typeface="Bitstream Charter"/>
                <a:ea typeface="Bitstream Charter"/>
                <a:cs typeface="Bitstream Charter"/>
              </a:defRPr>
            </a:pPr>
            <a:r>
              <a:rPr sz="1125" b="0">
                <a:solidFill>
                  <a:srgbClr val="5A6975"/>
                </a:solidFill>
                <a:latin typeface="Bitstream Charter"/>
                <a:ea typeface="Bitstream Charter"/>
                <a:cs typeface="Bitstream Charter"/>
              </a:rPr>
              <a:t>What I would take into a client measurement discussion</a:t>
            </a:r>
          </a:p>
        </p:txBody>
      </p:sp>
      <p:sp>
        <p:nvSpPr>
          <p:cNvPr id="3" name="Rectangle 2">
            <a:extLst>
              <a:ext uri="{FF2B5EF4-FFF2-40B4-BE49-F238E27FC236}">
                <a16:creationId xmlns:a16="http://schemas.microsoft.com/office/drawing/2014/main" id="{F635B98F-20DA-4DF8-A5DD-FDB01C5E6B99}"/>
              </a:ext>
            </a:extLst>
          </p:cNvPr>
          <p:cNvSpPr>
            <a:spLocks noGrp="1"/>
          </p:cNvSpPr>
          <p:nvPr/>
        </p:nvSpPr>
        <p:spPr>
          <a:xfrm>
            <a:off x="685800" y="1381125"/>
            <a:ext cx="10820400" cy="19050"/>
          </a:xfrm>
          <a:prstGeom prst="rect">
            <a:avLst/>
          </a:prstGeom>
          <a:solidFill>
            <a:srgbClr val="236192"/>
          </a:solidFill>
          <a:ln w="0">
            <a:solidFill>
              <a:srgbClr val="236192"/>
            </a:solidFill>
          </a:ln>
        </p:spPr>
        <p:txBody>
          <a:bodyPr/>
          <a:lstStyle/>
          <a:p>
            <a:endParaRPr lang="ja-JP" altLang="en-US"/>
          </a:p>
        </p:txBody>
      </p:sp>
      <p:sp>
        <p:nvSpPr>
          <p:cNvPr id="4" name="Rectangle 3">
            <a:extLst>
              <a:ext uri="{FF2B5EF4-FFF2-40B4-BE49-F238E27FC236}">
                <a16:creationId xmlns:a16="http://schemas.microsoft.com/office/drawing/2014/main" id="{B3EE6990-360B-4ED2-A26E-A26A8379AA4E}"/>
              </a:ext>
            </a:extLst>
          </p:cNvPr>
          <p:cNvSpPr>
            <a:spLocks noGrp="1"/>
          </p:cNvSpPr>
          <p:nvPr/>
        </p:nvSpPr>
        <p:spPr>
          <a:xfrm>
            <a:off x="876300" y="1962150"/>
            <a:ext cx="533400" cy="495300"/>
          </a:xfrm>
          <a:prstGeom prst="rect">
            <a:avLst/>
          </a:prstGeom>
          <a:noFill/>
          <a:ln w="0">
            <a:noFill/>
          </a:ln>
        </p:spPr>
        <p:txBody>
          <a:bodyPr>
            <a:normAutofit fontScale="98148"/>
          </a:bodyPr>
          <a:lstStyle/>
          <a:p>
            <a:pPr algn="ctr">
              <a:defRPr sz="2700" b="1">
                <a:solidFill>
                  <a:srgbClr val="E5755B"/>
                </a:solidFill>
                <a:latin typeface="Bitstream Charter"/>
                <a:ea typeface="Bitstream Charter"/>
                <a:cs typeface="Bitstream Charter"/>
              </a:defRPr>
            </a:pPr>
            <a:r>
              <a:rPr sz="2700" b="1">
                <a:solidFill>
                  <a:srgbClr val="E5755B"/>
                </a:solidFill>
                <a:latin typeface="Bitstream Charter"/>
                <a:ea typeface="Bitstream Charter"/>
                <a:cs typeface="Bitstream Charter"/>
              </a:rPr>
              <a:t>1</a:t>
            </a:r>
          </a:p>
        </p:txBody>
      </p:sp>
      <p:sp>
        <p:nvSpPr>
          <p:cNvPr id="5" name="Rectangle 4">
            <a:extLst>
              <a:ext uri="{FF2B5EF4-FFF2-40B4-BE49-F238E27FC236}">
                <a16:creationId xmlns:a16="http://schemas.microsoft.com/office/drawing/2014/main" id="{3FF69CAC-3080-4C84-ADC0-FFB4A246F838}"/>
              </a:ext>
            </a:extLst>
          </p:cNvPr>
          <p:cNvSpPr>
            <a:spLocks noGrp="1"/>
          </p:cNvSpPr>
          <p:nvPr/>
        </p:nvSpPr>
        <p:spPr>
          <a:xfrm>
            <a:off x="1619250" y="2028825"/>
            <a:ext cx="4476750" cy="304800"/>
          </a:xfrm>
          <a:prstGeom prst="rect">
            <a:avLst/>
          </a:prstGeom>
          <a:noFill/>
          <a:ln w="0">
            <a:noFill/>
          </a:ln>
        </p:spPr>
        <p:txBody>
          <a:bodyPr>
            <a:normAutofit fontScale="77778"/>
          </a:bodyPr>
          <a:lstStyle/>
          <a:p>
            <a:pPr>
              <a:defRPr sz="1800" b="1">
                <a:solidFill>
                  <a:srgbClr val="123047"/>
                </a:solidFill>
                <a:latin typeface="Bitstream Charter"/>
                <a:ea typeface="Bitstream Charter"/>
                <a:cs typeface="Bitstream Charter"/>
              </a:defRPr>
            </a:pPr>
            <a:r>
              <a:rPr sz="1800" b="1">
                <a:solidFill>
                  <a:srgbClr val="123047"/>
                </a:solidFill>
                <a:latin typeface="Bitstream Charter"/>
                <a:ea typeface="Bitstream Charter"/>
                <a:cs typeface="Bitstream Charter"/>
              </a:rPr>
              <a:t>Keep regular advertising in the mix</a:t>
            </a:r>
          </a:p>
        </p:txBody>
      </p:sp>
      <p:sp>
        <p:nvSpPr>
          <p:cNvPr id="6" name="Rectangle 5">
            <a:extLst>
              <a:ext uri="{FF2B5EF4-FFF2-40B4-BE49-F238E27FC236}">
                <a16:creationId xmlns:a16="http://schemas.microsoft.com/office/drawing/2014/main" id="{AFE15AA0-03D0-4DDC-9B6F-4C05115B8085}"/>
              </a:ext>
            </a:extLst>
          </p:cNvPr>
          <p:cNvSpPr>
            <a:spLocks noGrp="1"/>
          </p:cNvSpPr>
          <p:nvPr/>
        </p:nvSpPr>
        <p:spPr>
          <a:xfrm>
            <a:off x="1619250" y="2428875"/>
            <a:ext cx="4762500" cy="476250"/>
          </a:xfrm>
          <a:prstGeom prst="rect">
            <a:avLst/>
          </a:prstGeom>
          <a:noFill/>
          <a:ln w="0">
            <a:noFill/>
          </a:ln>
        </p:spPr>
        <p:txBody>
          <a:bodyPr>
            <a:normAutofit fontScale="88596"/>
          </a:bodyPr>
          <a:lstStyle/>
          <a:p>
            <a:pPr>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The A/B test showed a significant conversion advantage over PSA messaging.</a:t>
            </a:r>
          </a:p>
        </p:txBody>
      </p:sp>
      <p:sp>
        <p:nvSpPr>
          <p:cNvPr id="7" name="Rectangle 6">
            <a:extLst>
              <a:ext uri="{FF2B5EF4-FFF2-40B4-BE49-F238E27FC236}">
                <a16:creationId xmlns:a16="http://schemas.microsoft.com/office/drawing/2014/main" id="{98D0034B-8458-4DE5-9FFA-4B021AB362BF}"/>
              </a:ext>
            </a:extLst>
          </p:cNvPr>
          <p:cNvSpPr>
            <a:spLocks noGrp="1"/>
          </p:cNvSpPr>
          <p:nvPr/>
        </p:nvSpPr>
        <p:spPr>
          <a:xfrm>
            <a:off x="876300" y="3238500"/>
            <a:ext cx="533400" cy="495300"/>
          </a:xfrm>
          <a:prstGeom prst="rect">
            <a:avLst/>
          </a:prstGeom>
          <a:noFill/>
          <a:ln w="0">
            <a:noFill/>
          </a:ln>
        </p:spPr>
        <p:txBody>
          <a:bodyPr>
            <a:normAutofit fontScale="98148"/>
          </a:bodyPr>
          <a:lstStyle/>
          <a:p>
            <a:pPr algn="ctr">
              <a:defRPr sz="2700" b="1">
                <a:solidFill>
                  <a:srgbClr val="0F8B8D"/>
                </a:solidFill>
                <a:latin typeface="Bitstream Charter"/>
                <a:ea typeface="Bitstream Charter"/>
                <a:cs typeface="Bitstream Charter"/>
              </a:defRPr>
            </a:pPr>
            <a:r>
              <a:rPr sz="2700" b="1">
                <a:solidFill>
                  <a:srgbClr val="0F8B8D"/>
                </a:solidFill>
                <a:latin typeface="Bitstream Charter"/>
                <a:ea typeface="Bitstream Charter"/>
                <a:cs typeface="Bitstream Charter"/>
              </a:rPr>
              <a:t>2</a:t>
            </a:r>
          </a:p>
        </p:txBody>
      </p:sp>
      <p:sp>
        <p:nvSpPr>
          <p:cNvPr id="8" name="Rectangle 7">
            <a:extLst>
              <a:ext uri="{FF2B5EF4-FFF2-40B4-BE49-F238E27FC236}">
                <a16:creationId xmlns:a16="http://schemas.microsoft.com/office/drawing/2014/main" id="{7FAA8C5B-430F-4935-ACE7-FAAB6AE46F13}"/>
              </a:ext>
            </a:extLst>
          </p:cNvPr>
          <p:cNvSpPr>
            <a:spLocks noGrp="1"/>
          </p:cNvSpPr>
          <p:nvPr/>
        </p:nvSpPr>
        <p:spPr>
          <a:xfrm>
            <a:off x="1619250" y="3305175"/>
            <a:ext cx="4476750" cy="304800"/>
          </a:xfrm>
          <a:prstGeom prst="rect">
            <a:avLst/>
          </a:prstGeom>
          <a:noFill/>
          <a:ln w="0">
            <a:noFill/>
          </a:ln>
        </p:spPr>
        <p:txBody>
          <a:bodyPr>
            <a:normAutofit fontScale="77778"/>
          </a:bodyPr>
          <a:lstStyle/>
          <a:p>
            <a:pPr>
              <a:defRPr sz="1800" b="1">
                <a:solidFill>
                  <a:srgbClr val="123047"/>
                </a:solidFill>
                <a:latin typeface="Bitstream Charter"/>
                <a:ea typeface="Bitstream Charter"/>
                <a:cs typeface="Bitstream Charter"/>
              </a:defRPr>
            </a:pPr>
            <a:r>
              <a:rPr sz="1800" b="1">
                <a:solidFill>
                  <a:srgbClr val="123047"/>
                </a:solidFill>
                <a:latin typeface="Bitstream Charter"/>
                <a:ea typeface="Bitstream Charter"/>
                <a:cs typeface="Bitstream Charter"/>
              </a:rPr>
              <a:t>Test timing and frequency carefully</a:t>
            </a:r>
          </a:p>
        </p:txBody>
      </p:sp>
      <p:sp>
        <p:nvSpPr>
          <p:cNvPr id="9" name="Rectangle 8">
            <a:extLst>
              <a:ext uri="{FF2B5EF4-FFF2-40B4-BE49-F238E27FC236}">
                <a16:creationId xmlns:a16="http://schemas.microsoft.com/office/drawing/2014/main" id="{5C70D81A-CB44-47E1-9BA5-A7DF251AB0D5}"/>
              </a:ext>
            </a:extLst>
          </p:cNvPr>
          <p:cNvSpPr>
            <a:spLocks noGrp="1"/>
          </p:cNvSpPr>
          <p:nvPr/>
        </p:nvSpPr>
        <p:spPr>
          <a:xfrm>
            <a:off x="1619250" y="3705225"/>
            <a:ext cx="4762500" cy="552450"/>
          </a:xfrm>
          <a:prstGeom prst="rect">
            <a:avLst/>
          </a:prstGeom>
          <a:noFill/>
          <a:ln w="0">
            <a:noFill/>
          </a:ln>
        </p:spPr>
        <p:txBody>
          <a:bodyPr>
            <a:normAutofit fontScale="99839"/>
          </a:bodyPr>
          <a:lstStyle/>
          <a:p>
            <a:pPr>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Use Monday and stronger dayparts as hypotheses. Control for audience differences before changing exposure.</a:t>
            </a:r>
          </a:p>
        </p:txBody>
      </p:sp>
      <p:sp>
        <p:nvSpPr>
          <p:cNvPr id="10" name="Rectangle 9">
            <a:extLst>
              <a:ext uri="{FF2B5EF4-FFF2-40B4-BE49-F238E27FC236}">
                <a16:creationId xmlns:a16="http://schemas.microsoft.com/office/drawing/2014/main" id="{FE5423D9-7E04-425C-B18D-77C5FB885359}"/>
              </a:ext>
            </a:extLst>
          </p:cNvPr>
          <p:cNvSpPr>
            <a:spLocks noGrp="1"/>
          </p:cNvSpPr>
          <p:nvPr/>
        </p:nvSpPr>
        <p:spPr>
          <a:xfrm>
            <a:off x="876300" y="4591050"/>
            <a:ext cx="533400" cy="495300"/>
          </a:xfrm>
          <a:prstGeom prst="rect">
            <a:avLst/>
          </a:prstGeom>
          <a:noFill/>
          <a:ln w="0">
            <a:noFill/>
          </a:ln>
        </p:spPr>
        <p:txBody>
          <a:bodyPr>
            <a:normAutofit fontScale="98148"/>
          </a:bodyPr>
          <a:lstStyle/>
          <a:p>
            <a:pPr algn="ctr">
              <a:defRPr sz="2700" b="1">
                <a:solidFill>
                  <a:srgbClr val="236192"/>
                </a:solidFill>
                <a:latin typeface="Bitstream Charter"/>
                <a:ea typeface="Bitstream Charter"/>
                <a:cs typeface="Bitstream Charter"/>
              </a:defRPr>
            </a:pPr>
            <a:r>
              <a:rPr sz="2700" b="1">
                <a:solidFill>
                  <a:srgbClr val="236192"/>
                </a:solidFill>
                <a:latin typeface="Bitstream Charter"/>
                <a:ea typeface="Bitstream Charter"/>
                <a:cs typeface="Bitstream Charter"/>
              </a:rPr>
              <a:t>3</a:t>
            </a:r>
          </a:p>
        </p:txBody>
      </p:sp>
      <p:sp>
        <p:nvSpPr>
          <p:cNvPr id="11" name="Rectangle 10">
            <a:extLst>
              <a:ext uri="{FF2B5EF4-FFF2-40B4-BE49-F238E27FC236}">
                <a16:creationId xmlns:a16="http://schemas.microsoft.com/office/drawing/2014/main" id="{2E80D599-362B-425D-ACED-070E6DA5CD00}"/>
              </a:ext>
            </a:extLst>
          </p:cNvPr>
          <p:cNvSpPr>
            <a:spLocks noGrp="1"/>
          </p:cNvSpPr>
          <p:nvPr/>
        </p:nvSpPr>
        <p:spPr>
          <a:xfrm>
            <a:off x="1619250" y="4657725"/>
            <a:ext cx="4476750" cy="304800"/>
          </a:xfrm>
          <a:prstGeom prst="rect">
            <a:avLst/>
          </a:prstGeom>
          <a:noFill/>
          <a:ln w="0">
            <a:noFill/>
          </a:ln>
        </p:spPr>
        <p:txBody>
          <a:bodyPr>
            <a:normAutofit fontScale="77778"/>
          </a:bodyPr>
          <a:lstStyle/>
          <a:p>
            <a:pPr>
              <a:defRPr sz="1800" b="1">
                <a:solidFill>
                  <a:srgbClr val="123047"/>
                </a:solidFill>
                <a:latin typeface="Bitstream Charter"/>
                <a:ea typeface="Bitstream Charter"/>
                <a:cs typeface="Bitstream Charter"/>
              </a:defRPr>
            </a:pPr>
            <a:r>
              <a:rPr sz="1800" b="1">
                <a:solidFill>
                  <a:srgbClr val="123047"/>
                </a:solidFill>
                <a:latin typeface="Bitstream Charter"/>
                <a:ea typeface="Bitstream Charter"/>
                <a:cs typeface="Bitstream Charter"/>
              </a:rPr>
              <a:t>Use predictive scores to prioritise</a:t>
            </a:r>
          </a:p>
        </p:txBody>
      </p:sp>
      <p:sp>
        <p:nvSpPr>
          <p:cNvPr id="12" name="Rectangle 11">
            <a:extLst>
              <a:ext uri="{FF2B5EF4-FFF2-40B4-BE49-F238E27FC236}">
                <a16:creationId xmlns:a16="http://schemas.microsoft.com/office/drawing/2014/main" id="{D792FADF-38D8-4E3D-8052-744E33AEDB9D}"/>
              </a:ext>
            </a:extLst>
          </p:cNvPr>
          <p:cNvSpPr>
            <a:spLocks noGrp="1"/>
          </p:cNvSpPr>
          <p:nvPr/>
        </p:nvSpPr>
        <p:spPr>
          <a:xfrm>
            <a:off x="1619250" y="5057775"/>
            <a:ext cx="4762500" cy="552450"/>
          </a:xfrm>
          <a:prstGeom prst="rect">
            <a:avLst/>
          </a:prstGeom>
          <a:noFill/>
          <a:ln w="0">
            <a:noFill/>
          </a:ln>
        </p:spPr>
        <p:txBody>
          <a:bodyPr>
            <a:normAutofit/>
          </a:bodyPr>
          <a:lstStyle/>
          <a:p>
            <a:pPr>
              <a:defRPr sz="1425" b="0">
                <a:solidFill>
                  <a:srgbClr val="17212B"/>
                </a:solidFill>
                <a:latin typeface="Bitstream Charter"/>
                <a:ea typeface="Bitstream Charter"/>
                <a:cs typeface="Bitstream Charter"/>
              </a:defRPr>
            </a:pPr>
            <a:r>
              <a:rPr sz="1425" b="0">
                <a:solidFill>
                  <a:srgbClr val="17212B"/>
                </a:solidFill>
                <a:latin typeface="Bitstream Charter"/>
                <a:ea typeface="Bitstream Charter"/>
                <a:cs typeface="Bitstream Charter"/>
              </a:rPr>
              <a:t>Apply model scores to support targeting decisions alongside agreed client KPIs and safeguards.</a:t>
            </a:r>
          </a:p>
        </p:txBody>
      </p:sp>
      <p:sp>
        <p:nvSpPr>
          <p:cNvPr id="13" name="Rectangle 12">
            <a:extLst>
              <a:ext uri="{FF2B5EF4-FFF2-40B4-BE49-F238E27FC236}">
                <a16:creationId xmlns:a16="http://schemas.microsoft.com/office/drawing/2014/main" id="{8262AE81-4633-4507-AB77-306F0DCB6DE8}"/>
              </a:ext>
            </a:extLst>
          </p:cNvPr>
          <p:cNvSpPr>
            <a:spLocks noGrp="1"/>
          </p:cNvSpPr>
          <p:nvPr/>
        </p:nvSpPr>
        <p:spPr>
          <a:xfrm>
            <a:off x="7429500" y="2095500"/>
            <a:ext cx="3143250" cy="285750"/>
          </a:xfrm>
          <a:prstGeom prst="rect">
            <a:avLst/>
          </a:prstGeom>
          <a:noFill/>
          <a:ln w="0">
            <a:noFill/>
          </a:ln>
        </p:spPr>
        <p:txBody>
          <a:bodyPr>
            <a:normAutofit fontScale="85000"/>
          </a:bodyPr>
          <a:lstStyle/>
          <a:p>
            <a:pPr>
              <a:defRPr sz="1500" b="1">
                <a:solidFill>
                  <a:srgbClr val="0F8B8D"/>
                </a:solidFill>
                <a:latin typeface="Bitstream Charter"/>
                <a:ea typeface="Bitstream Charter"/>
                <a:cs typeface="Bitstream Charter"/>
              </a:defRPr>
            </a:pPr>
            <a:r>
              <a:rPr sz="1500" b="1">
                <a:solidFill>
                  <a:srgbClr val="0F8B8D"/>
                </a:solidFill>
                <a:latin typeface="Bitstream Charter"/>
                <a:ea typeface="Bitstream Charter"/>
                <a:cs typeface="Bitstream Charter"/>
              </a:rPr>
              <a:t>Measurement Success mindset</a:t>
            </a:r>
          </a:p>
        </p:txBody>
      </p:sp>
      <p:sp>
        <p:nvSpPr>
          <p:cNvPr id="14" name="Rectangle 13">
            <a:extLst>
              <a:ext uri="{FF2B5EF4-FFF2-40B4-BE49-F238E27FC236}">
                <a16:creationId xmlns:a16="http://schemas.microsoft.com/office/drawing/2014/main" id="{7A965676-9DC7-494B-BC1C-826CA381277F}"/>
              </a:ext>
            </a:extLst>
          </p:cNvPr>
          <p:cNvSpPr>
            <a:spLocks noGrp="1"/>
          </p:cNvSpPr>
          <p:nvPr/>
        </p:nvSpPr>
        <p:spPr>
          <a:xfrm>
            <a:off x="7429500" y="2571750"/>
            <a:ext cx="3429000" cy="1095375"/>
          </a:xfrm>
          <a:prstGeom prst="rect">
            <a:avLst/>
          </a:prstGeom>
          <a:noFill/>
          <a:ln w="0">
            <a:noFill/>
          </a:ln>
        </p:spPr>
        <p:txBody>
          <a:bodyPr>
            <a:normAutofit fontScale="87833"/>
          </a:bodyPr>
          <a:lstStyle/>
          <a:p>
            <a:pPr>
              <a:defRPr sz="1875" b="1">
                <a:solidFill>
                  <a:srgbClr val="123047"/>
                </a:solidFill>
                <a:latin typeface="Bitstream Charter"/>
                <a:ea typeface="Bitstream Charter"/>
                <a:cs typeface="Bitstream Charter"/>
              </a:defRPr>
            </a:pPr>
            <a:r>
              <a:rPr sz="1875" b="1">
                <a:solidFill>
                  <a:srgbClr val="123047"/>
                </a:solidFill>
                <a:latin typeface="Bitstream Charter"/>
                <a:ea typeface="Bitstream Charter"/>
                <a:cs typeface="Bitstream Charter"/>
              </a:rPr>
              <a:t>Turn technical analysis into clear client communication, practical recommendations and measurable next steps.</a:t>
            </a:r>
          </a:p>
        </p:txBody>
      </p:sp>
      <p:sp>
        <p:nvSpPr>
          <p:cNvPr id="15" name="Rectangle 14">
            <a:extLst>
              <a:ext uri="{FF2B5EF4-FFF2-40B4-BE49-F238E27FC236}">
                <a16:creationId xmlns:a16="http://schemas.microsoft.com/office/drawing/2014/main" id="{0D01BDB5-6934-4DB3-8C46-B480DE0D4DC6}"/>
              </a:ext>
            </a:extLst>
          </p:cNvPr>
          <p:cNvSpPr>
            <a:spLocks noGrp="1"/>
          </p:cNvSpPr>
          <p:nvPr/>
        </p:nvSpPr>
        <p:spPr>
          <a:xfrm>
            <a:off x="7429500" y="5048250"/>
            <a:ext cx="2095500" cy="342900"/>
          </a:xfrm>
          <a:prstGeom prst="rect">
            <a:avLst/>
          </a:prstGeom>
          <a:noFill/>
          <a:ln w="0">
            <a:noFill/>
          </a:ln>
        </p:spPr>
        <p:txBody>
          <a:bodyPr>
            <a:normAutofit fontScale="78571"/>
          </a:bodyPr>
          <a:lstStyle/>
          <a:p>
            <a:pPr>
              <a:defRPr sz="2100" b="1">
                <a:solidFill>
                  <a:srgbClr val="123047"/>
                </a:solidFill>
                <a:latin typeface="Bitstream Charter"/>
                <a:ea typeface="Bitstream Charter"/>
                <a:cs typeface="Bitstream Charter"/>
              </a:defRPr>
            </a:pPr>
            <a:r>
              <a:rPr sz="2100" b="1">
                <a:solidFill>
                  <a:srgbClr val="123047"/>
                </a:solidFill>
                <a:latin typeface="Bitstream Charter"/>
                <a:ea typeface="Bitstream Charter"/>
                <a:cs typeface="Bitstream Charter"/>
              </a:rPr>
              <a:t>Thank you</a:t>
            </a:r>
          </a:p>
        </p:txBody>
      </p:sp>
      <p:sp>
        <p:nvSpPr>
          <p:cNvPr id="16" name="Rectangle 15">
            <a:extLst>
              <a:ext uri="{FF2B5EF4-FFF2-40B4-BE49-F238E27FC236}">
                <a16:creationId xmlns:a16="http://schemas.microsoft.com/office/drawing/2014/main" id="{8450BBB9-99B9-4871-BF66-1D343E0F7EE2}"/>
              </a:ext>
            </a:extLst>
          </p:cNvPr>
          <p:cNvSpPr>
            <a:spLocks noGrp="1"/>
          </p:cNvSpPr>
          <p:nvPr/>
        </p:nvSpPr>
        <p:spPr>
          <a:xfrm>
            <a:off x="685800" y="6477000"/>
            <a:ext cx="3333750" cy="171450"/>
          </a:xfrm>
          <a:prstGeom prst="rect">
            <a:avLst/>
          </a:prstGeom>
          <a:noFill/>
          <a:ln w="0">
            <a:noFill/>
          </a:ln>
        </p:spPr>
        <p:txBody>
          <a:bodyPr>
            <a:normAutofit fontScale="77778"/>
          </a:bodyPr>
          <a:lstStyle/>
          <a:p>
            <a:pPr>
              <a:defRPr sz="675" b="0">
                <a:solidFill>
                  <a:srgbClr val="5A6975"/>
                </a:solidFill>
                <a:latin typeface="Bitstream Charter"/>
                <a:ea typeface="Bitstream Charter"/>
                <a:cs typeface="Bitstream Charter"/>
              </a:defRPr>
            </a:pPr>
            <a:r>
              <a:rPr sz="675" b="0">
                <a:solidFill>
                  <a:srgbClr val="5A6975"/>
                </a:solidFill>
                <a:latin typeface="Bitstream Charter"/>
                <a:ea typeface="Bitstream Charter"/>
                <a:cs typeface="Bitstream Charter"/>
              </a:rPr>
              <a:t>Campaign Measurement Case Study  |  7</a:t>
            </a:r>
          </a:p>
        </p:txBody>
      </p:sp>
    </p:spTree>
    <p:extLst>
      <p:ext uri="{BB962C8B-B14F-4D97-AF65-F5344CB8AC3E}">
        <p14:creationId xmlns:p14="http://schemas.microsoft.com/office/powerpoint/2010/main" val="1150335533"/>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890</Words>
  <Application>Microsoft Office PowerPoint</Application>
  <DocSecurity>0</DocSecurity>
  <PresentationFormat>Widescreen</PresentationFormat>
  <Paragraphs>110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Bitstream Charter</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Thomson Madoka</cp:lastModifiedBy>
  <cp:revision>1</cp:revision>
  <dcterms:created xsi:type="dcterms:W3CDTF">2026-09-16T22:02:03Z</dcterms:created>
  <dcterms:modified xsi:type="dcterms:W3CDTF">2026-09-17T01:30:45Z</dcterms:modified>
</cp:coreProperties>
</file>